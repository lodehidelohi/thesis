
<file path=[Content_Types].xml><?xml version="1.0" encoding="utf-8"?>
<Types xmlns="http://schemas.openxmlformats.org/package/2006/content-types">
  <Default Extension="drawio" ContentType="image/png"/>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308" r:id="rId8"/>
    <p:sldId id="262" r:id="rId9"/>
    <p:sldId id="263" r:id="rId10"/>
    <p:sldId id="264" r:id="rId11"/>
    <p:sldId id="312" r:id="rId12"/>
    <p:sldId id="265" r:id="rId13"/>
    <p:sldId id="266" r:id="rId14"/>
    <p:sldId id="267" r:id="rId15"/>
    <p:sldId id="268" r:id="rId16"/>
    <p:sldId id="269" r:id="rId17"/>
    <p:sldId id="309" r:id="rId18"/>
    <p:sldId id="31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13" r:id="rId56"/>
    <p:sldId id="307" r:id="rId57"/>
    <p:sldId id="311" r:id="rId58"/>
  </p:sldIdLst>
  <p:sldSz cx="18288000" cy="10287000"/>
  <p:notesSz cx="6858000" cy="9144000"/>
  <p:embeddedFontLst>
    <p:embeddedFont>
      <p:font typeface="DM Sans Bold" panose="020B0604020202020204" charset="0"/>
      <p:regular r:id="rId59"/>
    </p:embeddedFont>
    <p:embeddedFont>
      <p:font typeface="Libre Baskerville" panose="02000000000000000000" pitchFamily="2" charset="0"/>
      <p:regular r:id="rId60"/>
    </p:embeddedFont>
    <p:embeddedFont>
      <p:font typeface="Libre Baskerville Bold" panose="02000000000000000000" charset="0"/>
      <p:regular r:id="rId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22" autoAdjust="0"/>
  </p:normalViewPr>
  <p:slideViewPr>
    <p:cSldViewPr>
      <p:cViewPr varScale="1">
        <p:scale>
          <a:sx n="72" d="100"/>
          <a:sy n="72" d="100"/>
        </p:scale>
        <p:origin x="69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font" Target="fonts/font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2.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8.sv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8.sv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8.sv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8.sv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svg"/></Relationships>
</file>

<file path=ppt/slides/_rels/slide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8.sv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8.sv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8.sv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8.svg"/><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8.svg"/><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0.drawio"/><Relationship Id="rId5" Type="http://schemas.openxmlformats.org/officeDocument/2006/relationships/image" Target="../media/image8.svg"/><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8.svg"/><Relationship Id="rId4" Type="http://schemas.openxmlformats.org/officeDocument/2006/relationships/image" Target="../media/image7.png"/></Relationships>
</file>

<file path=ppt/slides/_rels/slide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8.svg"/><Relationship Id="rId4" Type="http://schemas.openxmlformats.org/officeDocument/2006/relationships/image" Target="../media/image7.png"/></Relationships>
</file>

<file path=ppt/slides/_rels/slide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8.svg"/><Relationship Id="rId4" Type="http://schemas.openxmlformats.org/officeDocument/2006/relationships/image" Target="../media/image7.png"/></Relationships>
</file>

<file path=ppt/slides/_rels/slide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8.svg"/><Relationship Id="rId4" Type="http://schemas.openxmlformats.org/officeDocument/2006/relationships/image" Target="../media/image7.png"/></Relationships>
</file>

<file path=ppt/slides/_rels/slide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50.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8.svg"/><Relationship Id="rId4" Type="http://schemas.openxmlformats.org/officeDocument/2006/relationships/image" Target="../media/image7.png"/></Relationships>
</file>

<file path=ppt/slides/_rels/slide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8.svg"/><Relationship Id="rId4" Type="http://schemas.openxmlformats.org/officeDocument/2006/relationships/image" Target="../media/image7.png"/></Relationships>
</file>

<file path=ppt/slides/_rels/slide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8.svg"/><Relationship Id="rId4" Type="http://schemas.openxmlformats.org/officeDocument/2006/relationships/image" Target="../media/image7.png"/></Relationships>
</file>

<file path=ppt/slides/_rels/slide5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8.svg"/><Relationship Id="rId4" Type="http://schemas.openxmlformats.org/officeDocument/2006/relationships/image" Target="../media/image7.png"/></Relationships>
</file>

<file path=ppt/slides/_rels/slide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8.svg"/><Relationship Id="rId4" Type="http://schemas.openxmlformats.org/officeDocument/2006/relationships/image" Target="../media/image7.png"/></Relationships>
</file>

<file path=ppt/slides/_rels/slide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9990699" y="2057400"/>
            <a:ext cx="8345930" cy="8285233"/>
          </a:xfrm>
          <a:custGeom>
            <a:avLst/>
            <a:gdLst/>
            <a:ahLst/>
            <a:cxnLst/>
            <a:rect l="l" t="t" r="r" b="b"/>
            <a:pathLst>
              <a:path w="8345930" h="8285233">
                <a:moveTo>
                  <a:pt x="0" y="8285233"/>
                </a:moveTo>
                <a:lnTo>
                  <a:pt x="8345930" y="8285233"/>
                </a:lnTo>
                <a:lnTo>
                  <a:pt x="8345930" y="0"/>
                </a:lnTo>
                <a:lnTo>
                  <a:pt x="0" y="0"/>
                </a:lnTo>
                <a:lnTo>
                  <a:pt x="0" y="82852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76200" y="0"/>
            <a:ext cx="8345930" cy="8285233"/>
          </a:xfrm>
          <a:custGeom>
            <a:avLst/>
            <a:gdLst/>
            <a:ahLst/>
            <a:cxnLst/>
            <a:rect l="l" t="t" r="r" b="b"/>
            <a:pathLst>
              <a:path w="8345930" h="8285233">
                <a:moveTo>
                  <a:pt x="8345930" y="0"/>
                </a:moveTo>
                <a:lnTo>
                  <a:pt x="0" y="0"/>
                </a:lnTo>
                <a:lnTo>
                  <a:pt x="0" y="8285233"/>
                </a:lnTo>
                <a:lnTo>
                  <a:pt x="8345930" y="8285233"/>
                </a:lnTo>
                <a:lnTo>
                  <a:pt x="834593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4293008" y="6803980"/>
            <a:ext cx="9701984" cy="1931386"/>
          </a:xfrm>
          <a:prstGeom prst="rect">
            <a:avLst/>
          </a:prstGeom>
        </p:spPr>
        <p:txBody>
          <a:bodyPr lIns="0" tIns="0" rIns="0" bIns="0" rtlCol="0" anchor="t">
            <a:spAutoFit/>
          </a:bodyPr>
          <a:lstStyle/>
          <a:p>
            <a:pPr algn="ctr">
              <a:lnSpc>
                <a:spcPts val="5179"/>
              </a:lnSpc>
            </a:pPr>
            <a:r>
              <a:rPr lang="en-US" sz="3699">
                <a:solidFill>
                  <a:srgbClr val="F8FCEB"/>
                </a:solidFill>
                <a:latin typeface="Libre Baskerville"/>
                <a:ea typeface="Libre Baskerville"/>
                <a:cs typeface="Libre Baskerville"/>
                <a:sym typeface="Libre Baskerville"/>
              </a:rPr>
              <a:t>Presenters: </a:t>
            </a:r>
          </a:p>
          <a:p>
            <a:pPr algn="ctr">
              <a:lnSpc>
                <a:spcPts val="5179"/>
              </a:lnSpc>
            </a:pPr>
            <a:r>
              <a:rPr lang="en-US" sz="3699">
                <a:solidFill>
                  <a:srgbClr val="F8FCEB"/>
                </a:solidFill>
                <a:latin typeface="Libre Baskerville"/>
                <a:ea typeface="Libre Baskerville"/>
                <a:cs typeface="Libre Baskerville"/>
                <a:sym typeface="Libre Baskerville"/>
              </a:rPr>
              <a:t>George Andrei D. Gatan</a:t>
            </a:r>
          </a:p>
          <a:p>
            <a:pPr algn="ctr">
              <a:lnSpc>
                <a:spcPts val="5179"/>
              </a:lnSpc>
            </a:pPr>
            <a:r>
              <a:rPr lang="en-US" sz="3699">
                <a:solidFill>
                  <a:srgbClr val="F8FCEB"/>
                </a:solidFill>
                <a:latin typeface="Libre Baskerville"/>
                <a:ea typeface="Libre Baskerville"/>
                <a:cs typeface="Libre Baskerville"/>
                <a:sym typeface="Libre Baskerville"/>
              </a:rPr>
              <a:t>Nathaniel C. Lagnaoda</a:t>
            </a:r>
          </a:p>
        </p:txBody>
      </p:sp>
      <p:sp>
        <p:nvSpPr>
          <p:cNvPr id="5" name="TextBox 5"/>
          <p:cNvSpPr txBox="1"/>
          <p:nvPr/>
        </p:nvSpPr>
        <p:spPr>
          <a:xfrm>
            <a:off x="1087959" y="3859142"/>
            <a:ext cx="16112081" cy="1812942"/>
          </a:xfrm>
          <a:prstGeom prst="rect">
            <a:avLst/>
          </a:prstGeom>
        </p:spPr>
        <p:txBody>
          <a:bodyPr lIns="0" tIns="0" rIns="0" bIns="0" rtlCol="0" anchor="t">
            <a:spAutoFit/>
          </a:bodyPr>
          <a:lstStyle/>
          <a:p>
            <a:pPr algn="ctr">
              <a:lnSpc>
                <a:spcPts val="14891"/>
              </a:lnSpc>
            </a:pPr>
            <a:r>
              <a:rPr lang="en-US" sz="10636" b="1">
                <a:solidFill>
                  <a:srgbClr val="333C4A"/>
                </a:solidFill>
                <a:latin typeface="DM Sans Bold"/>
                <a:ea typeface="DM Sans Bold"/>
                <a:cs typeface="DM Sans Bold"/>
                <a:sym typeface="DM Sans Bold"/>
              </a:rPr>
              <a:t>OUTLINE DEFENSE</a:t>
            </a:r>
          </a:p>
        </p:txBody>
      </p:sp>
      <p:sp>
        <p:nvSpPr>
          <p:cNvPr id="6" name="Freeform 6"/>
          <p:cNvSpPr/>
          <p:nvPr/>
        </p:nvSpPr>
        <p:spPr>
          <a:xfrm>
            <a:off x="-902108" y="7200900"/>
            <a:ext cx="3980134" cy="4114800"/>
          </a:xfrm>
          <a:custGeom>
            <a:avLst/>
            <a:gdLst/>
            <a:ahLst/>
            <a:cxnLst/>
            <a:rect l="l" t="t" r="r" b="b"/>
            <a:pathLst>
              <a:path w="3980134" h="4114800">
                <a:moveTo>
                  <a:pt x="0" y="0"/>
                </a:moveTo>
                <a:lnTo>
                  <a:pt x="3980134" y="0"/>
                </a:lnTo>
                <a:lnTo>
                  <a:pt x="398013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H="1" flipV="1">
            <a:off x="14375546" y="-1754332"/>
            <a:ext cx="3980134" cy="4114800"/>
          </a:xfrm>
          <a:custGeom>
            <a:avLst/>
            <a:gdLst/>
            <a:ahLst/>
            <a:cxnLst/>
            <a:rect l="l" t="t" r="r" b="b"/>
            <a:pathLst>
              <a:path w="3980134" h="4114800">
                <a:moveTo>
                  <a:pt x="3980133" y="4114800"/>
                </a:moveTo>
                <a:lnTo>
                  <a:pt x="0" y="4114800"/>
                </a:lnTo>
                <a:lnTo>
                  <a:pt x="0" y="0"/>
                </a:lnTo>
                <a:lnTo>
                  <a:pt x="3980133" y="0"/>
                </a:lnTo>
                <a:lnTo>
                  <a:pt x="3980133" y="411480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0" y="7293167"/>
            <a:ext cx="5401421" cy="2993833"/>
          </a:xfrm>
          <a:custGeom>
            <a:avLst/>
            <a:gdLst/>
            <a:ahLst/>
            <a:cxnLst/>
            <a:rect l="l" t="t" r="r" b="b"/>
            <a:pathLst>
              <a:path w="5401421" h="2993833">
                <a:moveTo>
                  <a:pt x="0" y="2993833"/>
                </a:moveTo>
                <a:lnTo>
                  <a:pt x="5401421" y="2993833"/>
                </a:lnTo>
                <a:lnTo>
                  <a:pt x="5401421" y="0"/>
                </a:lnTo>
                <a:lnTo>
                  <a:pt x="0" y="0"/>
                </a:lnTo>
                <a:lnTo>
                  <a:pt x="0" y="29938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411301" y="3719878"/>
            <a:ext cx="12801624" cy="3195319"/>
          </a:xfrm>
          <a:prstGeom prst="rect">
            <a:avLst/>
          </a:prstGeom>
        </p:spPr>
        <p:txBody>
          <a:bodyPr lIns="0" tIns="0" rIns="0" bIns="0" rtlCol="0" anchor="t">
            <a:spAutoFit/>
          </a:bodyPr>
          <a:lstStyle/>
          <a:p>
            <a:pPr algn="ctr">
              <a:lnSpc>
                <a:spcPts val="12880"/>
              </a:lnSpc>
            </a:pPr>
            <a:r>
              <a:rPr lang="en-US" sz="9200" b="1">
                <a:solidFill>
                  <a:srgbClr val="333C4A"/>
                </a:solidFill>
                <a:latin typeface="DM Sans Bold"/>
                <a:ea typeface="DM Sans Bold"/>
                <a:cs typeface="DM Sans Bold"/>
                <a:sym typeface="DM Sans Bold"/>
              </a:rPr>
              <a:t>CHAPTER 1</a:t>
            </a:r>
          </a:p>
          <a:p>
            <a:pPr algn="ctr">
              <a:lnSpc>
                <a:spcPts val="12880"/>
              </a:lnSpc>
            </a:pPr>
            <a:endParaRPr lang="en-US" sz="9200" b="1">
              <a:solidFill>
                <a:srgbClr val="333C4A"/>
              </a:solidFill>
              <a:latin typeface="DM Sans Bold"/>
              <a:ea typeface="DM Sans Bold"/>
              <a:cs typeface="DM Sans Bold"/>
              <a:sym typeface="DM Sans Bold"/>
            </a:endParaRPr>
          </a:p>
        </p:txBody>
      </p:sp>
      <p:sp>
        <p:nvSpPr>
          <p:cNvPr id="4" name="Freeform 4"/>
          <p:cNvSpPr/>
          <p:nvPr/>
        </p:nvSpPr>
        <p:spPr>
          <a:xfrm flipH="1">
            <a:off x="12886579" y="0"/>
            <a:ext cx="5401421" cy="2993833"/>
          </a:xfrm>
          <a:custGeom>
            <a:avLst/>
            <a:gdLst/>
            <a:ahLst/>
            <a:cxnLst/>
            <a:rect l="l" t="t" r="r" b="b"/>
            <a:pathLst>
              <a:path w="5401421" h="2993833">
                <a:moveTo>
                  <a:pt x="5401421" y="0"/>
                </a:moveTo>
                <a:lnTo>
                  <a:pt x="0" y="0"/>
                </a:lnTo>
                <a:lnTo>
                  <a:pt x="0" y="2993833"/>
                </a:lnTo>
                <a:lnTo>
                  <a:pt x="5401421" y="2993833"/>
                </a:lnTo>
                <a:lnTo>
                  <a:pt x="5401421"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V="1">
            <a:off x="-1279423" y="-2617884"/>
            <a:ext cx="3980134" cy="4114800"/>
          </a:xfrm>
          <a:custGeom>
            <a:avLst/>
            <a:gdLst/>
            <a:ahLst/>
            <a:cxnLst/>
            <a:rect l="l" t="t" r="r" b="b"/>
            <a:pathLst>
              <a:path w="3980134" h="4114800">
                <a:moveTo>
                  <a:pt x="0" y="4114800"/>
                </a:moveTo>
                <a:lnTo>
                  <a:pt x="3980133" y="4114800"/>
                </a:lnTo>
                <a:lnTo>
                  <a:pt x="3980133"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H="1">
            <a:off x="15507358" y="8790084"/>
            <a:ext cx="3980134" cy="4114800"/>
          </a:xfrm>
          <a:custGeom>
            <a:avLst/>
            <a:gdLst/>
            <a:ahLst/>
            <a:cxnLst/>
            <a:rect l="l" t="t" r="r" b="b"/>
            <a:pathLst>
              <a:path w="3980134" h="4114800">
                <a:moveTo>
                  <a:pt x="3980134" y="0"/>
                </a:moveTo>
                <a:lnTo>
                  <a:pt x="0" y="0"/>
                </a:lnTo>
                <a:lnTo>
                  <a:pt x="0" y="4114800"/>
                </a:lnTo>
                <a:lnTo>
                  <a:pt x="3980134" y="4114800"/>
                </a:lnTo>
                <a:lnTo>
                  <a:pt x="3980134"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003333" y="1284590"/>
            <a:ext cx="8616986" cy="1566545"/>
          </a:xfrm>
          <a:prstGeom prst="rect">
            <a:avLst/>
          </a:prstGeom>
        </p:spPr>
        <p:txBody>
          <a:bodyPr lIns="0" tIns="0" rIns="0" bIns="0" rtlCol="0" anchor="t">
            <a:spAutoFit/>
          </a:bodyPr>
          <a:lstStyle/>
          <a:p>
            <a:pPr algn="l">
              <a:lnSpc>
                <a:spcPts val="12880"/>
              </a:lnSpc>
            </a:pPr>
            <a:r>
              <a:rPr lang="en-US" sz="9200" b="1">
                <a:solidFill>
                  <a:srgbClr val="333C4A"/>
                </a:solidFill>
                <a:latin typeface="DM Sans Bold"/>
                <a:ea typeface="DM Sans Bold"/>
                <a:cs typeface="DM Sans Bold"/>
                <a:sym typeface="DM Sans Bold"/>
              </a:rPr>
              <a:t>Introduction</a:t>
            </a:r>
          </a:p>
        </p:txBody>
      </p:sp>
      <p:sp>
        <p:nvSpPr>
          <p:cNvPr id="5" name="TextBox 5"/>
          <p:cNvSpPr txBox="1"/>
          <p:nvPr/>
        </p:nvSpPr>
        <p:spPr>
          <a:xfrm>
            <a:off x="841868" y="3041390"/>
            <a:ext cx="16417432" cy="6595745"/>
          </a:xfrm>
          <a:prstGeom prst="rect">
            <a:avLst/>
          </a:prstGeom>
        </p:spPr>
        <p:txBody>
          <a:bodyPr lIns="0" tIns="0" rIns="0" bIns="0" rtlCol="0" anchor="t">
            <a:spAutoFit/>
          </a:bodyPr>
          <a:lstStyle/>
          <a:p>
            <a:pPr marL="1014731" lvl="1" indent="-507365" algn="l">
              <a:lnSpc>
                <a:spcPts val="6580"/>
              </a:lnSpc>
              <a:buFont typeface="Arial"/>
              <a:buChar char="•"/>
            </a:pPr>
            <a:r>
              <a:rPr lang="en-US" sz="4700" b="1" dirty="0">
                <a:solidFill>
                  <a:srgbClr val="333C4A"/>
                </a:solidFill>
                <a:latin typeface="Libre Baskerville Bold"/>
                <a:ea typeface="Libre Baskerville Bold"/>
                <a:cs typeface="Libre Baskerville Bold"/>
                <a:sym typeface="Libre Baskerville Bold"/>
              </a:rPr>
              <a:t>Educational institutions today face increasing demand for printing and document-handling services from students, faculty, and staff. </a:t>
            </a:r>
          </a:p>
          <a:p>
            <a:pPr algn="l">
              <a:lnSpc>
                <a:spcPts val="6580"/>
              </a:lnSpc>
            </a:pPr>
            <a:endParaRPr lang="en-US" sz="4700" b="1" dirty="0">
              <a:solidFill>
                <a:srgbClr val="333C4A"/>
              </a:solidFill>
              <a:latin typeface="Libre Baskerville Bold"/>
              <a:ea typeface="Libre Baskerville Bold"/>
              <a:cs typeface="Libre Baskerville Bold"/>
              <a:sym typeface="Libre Baskerville Bold"/>
            </a:endParaRPr>
          </a:p>
          <a:p>
            <a:pPr marL="1014731" lvl="1" indent="-507365" algn="l">
              <a:lnSpc>
                <a:spcPts val="6580"/>
              </a:lnSpc>
              <a:buFont typeface="Arial"/>
              <a:buChar char="•"/>
            </a:pPr>
            <a:r>
              <a:rPr lang="en-US" sz="4700" b="1" dirty="0">
                <a:solidFill>
                  <a:srgbClr val="333C4A"/>
                </a:solidFill>
                <a:latin typeface="Libre Baskerville Bold"/>
                <a:ea typeface="Libre Baskerville Bold"/>
                <a:cs typeface="Libre Baskerville Bold"/>
                <a:sym typeface="Libre Baskerville Bold"/>
              </a:rPr>
              <a:t>Traditional manual print stations often lead to delays, long queues, and inefficient workflow, especially during peak periods. </a:t>
            </a:r>
          </a:p>
          <a:p>
            <a:pPr algn="l">
              <a:lnSpc>
                <a:spcPts val="6580"/>
              </a:lnSpc>
            </a:pPr>
            <a:endParaRPr lang="en-US" sz="4700" b="1" dirty="0">
              <a:solidFill>
                <a:srgbClr val="333C4A"/>
              </a:solidFill>
              <a:latin typeface="Libre Baskerville Bold"/>
              <a:ea typeface="Libre Baskerville Bold"/>
              <a:cs typeface="Libre Baskerville Bold"/>
              <a:sym typeface="Libre Baskerville Bold"/>
            </a:endParaRPr>
          </a:p>
        </p:txBody>
      </p:sp>
      <p:sp>
        <p:nvSpPr>
          <p:cNvPr id="6" name="Freeform 6"/>
          <p:cNvSpPr/>
          <p:nvPr/>
        </p:nvSpPr>
        <p:spPr>
          <a:xfrm flipH="1" flipV="1">
            <a:off x="0" y="0"/>
            <a:ext cx="2006665" cy="2590917"/>
          </a:xfrm>
          <a:custGeom>
            <a:avLst/>
            <a:gdLst/>
            <a:ahLst/>
            <a:cxnLst/>
            <a:rect l="l" t="t" r="r" b="b"/>
            <a:pathLst>
              <a:path w="2006665" h="2590917">
                <a:moveTo>
                  <a:pt x="2006665" y="2590917"/>
                </a:moveTo>
                <a:lnTo>
                  <a:pt x="0" y="2590917"/>
                </a:lnTo>
                <a:lnTo>
                  <a:pt x="0" y="0"/>
                </a:lnTo>
                <a:lnTo>
                  <a:pt x="2006665" y="0"/>
                </a:lnTo>
                <a:lnTo>
                  <a:pt x="2006665" y="2590917"/>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3407884" y="3986012"/>
            <a:ext cx="4880116" cy="6300988"/>
          </a:xfrm>
          <a:custGeom>
            <a:avLst/>
            <a:gdLst/>
            <a:ahLst/>
            <a:cxnLst/>
            <a:rect l="l" t="t" r="r" b="b"/>
            <a:pathLst>
              <a:path w="4880116" h="6300988">
                <a:moveTo>
                  <a:pt x="0" y="0"/>
                </a:moveTo>
                <a:lnTo>
                  <a:pt x="4880116" y="0"/>
                </a:lnTo>
                <a:lnTo>
                  <a:pt x="4880116" y="6300988"/>
                </a:lnTo>
                <a:lnTo>
                  <a:pt x="0" y="63009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003333" y="1284590"/>
            <a:ext cx="8616986" cy="1566545"/>
          </a:xfrm>
          <a:prstGeom prst="rect">
            <a:avLst/>
          </a:prstGeom>
        </p:spPr>
        <p:txBody>
          <a:bodyPr lIns="0" tIns="0" rIns="0" bIns="0" rtlCol="0" anchor="t">
            <a:spAutoFit/>
          </a:bodyPr>
          <a:lstStyle/>
          <a:p>
            <a:pPr algn="l">
              <a:lnSpc>
                <a:spcPts val="12880"/>
              </a:lnSpc>
            </a:pPr>
            <a:r>
              <a:rPr lang="en-US" sz="9200" b="1">
                <a:solidFill>
                  <a:srgbClr val="333C4A"/>
                </a:solidFill>
                <a:latin typeface="DM Sans Bold"/>
                <a:ea typeface="DM Sans Bold"/>
                <a:cs typeface="DM Sans Bold"/>
                <a:sym typeface="DM Sans Bold"/>
              </a:rPr>
              <a:t>Introduction</a:t>
            </a:r>
          </a:p>
        </p:txBody>
      </p:sp>
      <p:sp>
        <p:nvSpPr>
          <p:cNvPr id="5" name="TextBox 5"/>
          <p:cNvSpPr txBox="1"/>
          <p:nvPr/>
        </p:nvSpPr>
        <p:spPr>
          <a:xfrm>
            <a:off x="841868" y="3041390"/>
            <a:ext cx="16417432" cy="3331425"/>
          </a:xfrm>
          <a:prstGeom prst="rect">
            <a:avLst/>
          </a:prstGeom>
        </p:spPr>
        <p:txBody>
          <a:bodyPr lIns="0" tIns="0" rIns="0" bIns="0" rtlCol="0" anchor="t">
            <a:spAutoFit/>
          </a:bodyPr>
          <a:lstStyle/>
          <a:p>
            <a:pPr marL="1014731" lvl="1" indent="-507365" algn="l">
              <a:lnSpc>
                <a:spcPts val="6580"/>
              </a:lnSpc>
              <a:buFont typeface="Arial"/>
              <a:buChar char="•"/>
            </a:pPr>
            <a:r>
              <a:rPr lang="en-US" sz="4700" b="1" dirty="0">
                <a:solidFill>
                  <a:srgbClr val="333C4A"/>
                </a:solidFill>
                <a:latin typeface="Libre Baskerville Bold"/>
                <a:ea typeface="Libre Baskerville Bold"/>
                <a:cs typeface="Libre Baskerville Bold"/>
                <a:sym typeface="Libre Baskerville Bold"/>
              </a:rPr>
              <a:t>This study aims to design, develop, implement and evaluate a Self Service Printing Kiosk in the SKSU-</a:t>
            </a:r>
            <a:r>
              <a:rPr lang="en-US" sz="4700" b="1" dirty="0" err="1">
                <a:solidFill>
                  <a:srgbClr val="333C4A"/>
                </a:solidFill>
                <a:latin typeface="Libre Baskerville Bold"/>
                <a:ea typeface="Libre Baskerville Bold"/>
                <a:cs typeface="Libre Baskerville Bold"/>
                <a:sym typeface="Libre Baskerville Bold"/>
              </a:rPr>
              <a:t>Isulan</a:t>
            </a:r>
            <a:r>
              <a:rPr lang="en-US" sz="4700" b="1" dirty="0">
                <a:solidFill>
                  <a:srgbClr val="333C4A"/>
                </a:solidFill>
                <a:latin typeface="Libre Baskerville Bold"/>
                <a:ea typeface="Libre Baskerville Bold"/>
                <a:cs typeface="Libre Baskerville Bold"/>
                <a:sym typeface="Libre Baskerville Bold"/>
              </a:rPr>
              <a:t> Library that integrates a cashless payment system via </a:t>
            </a:r>
            <a:r>
              <a:rPr lang="en-US" sz="4700" b="1" dirty="0" err="1">
                <a:solidFill>
                  <a:srgbClr val="333C4A"/>
                </a:solidFill>
                <a:latin typeface="Libre Baskerville Bold"/>
                <a:ea typeface="Libre Baskerville Bold"/>
                <a:cs typeface="Libre Baskerville Bold"/>
                <a:sym typeface="Libre Baskerville Bold"/>
              </a:rPr>
              <a:t>GCash</a:t>
            </a:r>
            <a:r>
              <a:rPr lang="en-US" sz="4700" b="1" dirty="0">
                <a:solidFill>
                  <a:srgbClr val="333C4A"/>
                </a:solidFill>
                <a:latin typeface="Libre Baskerville Bold"/>
                <a:ea typeface="Libre Baskerville Bold"/>
                <a:cs typeface="Libre Baskerville Bold"/>
                <a:sym typeface="Libre Baskerville Bold"/>
              </a:rPr>
              <a:t>.</a:t>
            </a:r>
          </a:p>
        </p:txBody>
      </p:sp>
      <p:sp>
        <p:nvSpPr>
          <p:cNvPr id="6" name="Freeform 6"/>
          <p:cNvSpPr/>
          <p:nvPr/>
        </p:nvSpPr>
        <p:spPr>
          <a:xfrm flipH="1" flipV="1">
            <a:off x="0" y="0"/>
            <a:ext cx="2006665" cy="2590917"/>
          </a:xfrm>
          <a:custGeom>
            <a:avLst/>
            <a:gdLst/>
            <a:ahLst/>
            <a:cxnLst/>
            <a:rect l="l" t="t" r="r" b="b"/>
            <a:pathLst>
              <a:path w="2006665" h="2590917">
                <a:moveTo>
                  <a:pt x="2006665" y="2590917"/>
                </a:moveTo>
                <a:lnTo>
                  <a:pt x="0" y="2590917"/>
                </a:lnTo>
                <a:lnTo>
                  <a:pt x="0" y="0"/>
                </a:lnTo>
                <a:lnTo>
                  <a:pt x="2006665" y="0"/>
                </a:lnTo>
                <a:lnTo>
                  <a:pt x="2006665" y="2590917"/>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3407884" y="3986012"/>
            <a:ext cx="4880116" cy="6300988"/>
          </a:xfrm>
          <a:custGeom>
            <a:avLst/>
            <a:gdLst/>
            <a:ahLst/>
            <a:cxnLst/>
            <a:rect l="l" t="t" r="r" b="b"/>
            <a:pathLst>
              <a:path w="4880116" h="6300988">
                <a:moveTo>
                  <a:pt x="0" y="0"/>
                </a:moveTo>
                <a:lnTo>
                  <a:pt x="4880116" y="0"/>
                </a:lnTo>
                <a:lnTo>
                  <a:pt x="4880116" y="6300988"/>
                </a:lnTo>
                <a:lnTo>
                  <a:pt x="0" y="63009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TextBox 2"/>
          <p:cNvSpPr txBox="1"/>
          <p:nvPr/>
        </p:nvSpPr>
        <p:spPr>
          <a:xfrm>
            <a:off x="1916418" y="857250"/>
            <a:ext cx="14455164" cy="1566544"/>
          </a:xfrm>
          <a:prstGeom prst="rect">
            <a:avLst/>
          </a:prstGeom>
        </p:spPr>
        <p:txBody>
          <a:bodyPr lIns="0" tIns="0" rIns="0" bIns="0" rtlCol="0" anchor="t">
            <a:spAutoFit/>
          </a:bodyPr>
          <a:lstStyle/>
          <a:p>
            <a:pPr algn="ctr">
              <a:lnSpc>
                <a:spcPts val="12880"/>
              </a:lnSpc>
            </a:pPr>
            <a:r>
              <a:rPr lang="en-US" sz="9200" b="1">
                <a:solidFill>
                  <a:srgbClr val="333C4A"/>
                </a:solidFill>
                <a:latin typeface="DM Sans Bold"/>
                <a:ea typeface="DM Sans Bold"/>
                <a:cs typeface="DM Sans Bold"/>
                <a:sym typeface="DM Sans Bold"/>
              </a:rPr>
              <a:t>General Objectives</a:t>
            </a:r>
          </a:p>
        </p:txBody>
      </p:sp>
      <p:sp>
        <p:nvSpPr>
          <p:cNvPr id="3" name="TextBox 3"/>
          <p:cNvSpPr txBox="1"/>
          <p:nvPr/>
        </p:nvSpPr>
        <p:spPr>
          <a:xfrm>
            <a:off x="2973687" y="3207714"/>
            <a:ext cx="12340625" cy="4547847"/>
          </a:xfrm>
          <a:prstGeom prst="rect">
            <a:avLst/>
          </a:prstGeom>
        </p:spPr>
        <p:txBody>
          <a:bodyPr lIns="0" tIns="0" rIns="0" bIns="0" rtlCol="0" anchor="t">
            <a:spAutoFit/>
          </a:bodyPr>
          <a:lstStyle/>
          <a:p>
            <a:pPr algn="ctr">
              <a:lnSpc>
                <a:spcPts val="6056"/>
              </a:lnSpc>
            </a:pPr>
            <a:r>
              <a:rPr lang="en-US" sz="4325" b="1">
                <a:solidFill>
                  <a:srgbClr val="333C4A"/>
                </a:solidFill>
                <a:latin typeface="Libre Baskerville Bold"/>
                <a:ea typeface="Libre Baskerville Bold"/>
                <a:cs typeface="Libre Baskerville Bold"/>
                <a:sym typeface="Libre Baskerville Bold"/>
              </a:rPr>
              <a:t>This study generally aims to develop a self-service printing kiosk station in SKSU-Isulan library that provides students and users with a convenient, automated, and cashless payment service through GCash.</a:t>
            </a:r>
          </a:p>
        </p:txBody>
      </p:sp>
      <p:sp>
        <p:nvSpPr>
          <p:cNvPr id="4" name="Freeform 4"/>
          <p:cNvSpPr/>
          <p:nvPr/>
        </p:nvSpPr>
        <p:spPr>
          <a:xfrm flipV="1">
            <a:off x="0" y="7293167"/>
            <a:ext cx="5401421" cy="2993833"/>
          </a:xfrm>
          <a:custGeom>
            <a:avLst/>
            <a:gdLst/>
            <a:ahLst/>
            <a:cxnLst/>
            <a:rect l="l" t="t" r="r" b="b"/>
            <a:pathLst>
              <a:path w="5401421" h="2993833">
                <a:moveTo>
                  <a:pt x="0" y="2993833"/>
                </a:moveTo>
                <a:lnTo>
                  <a:pt x="5401421" y="2993833"/>
                </a:lnTo>
                <a:lnTo>
                  <a:pt x="5401421" y="0"/>
                </a:lnTo>
                <a:lnTo>
                  <a:pt x="0" y="0"/>
                </a:lnTo>
                <a:lnTo>
                  <a:pt x="0" y="29938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a:off x="12886579" y="0"/>
            <a:ext cx="5401421" cy="2993833"/>
          </a:xfrm>
          <a:custGeom>
            <a:avLst/>
            <a:gdLst/>
            <a:ahLst/>
            <a:cxnLst/>
            <a:rect l="l" t="t" r="r" b="b"/>
            <a:pathLst>
              <a:path w="5401421" h="2993833">
                <a:moveTo>
                  <a:pt x="5401421" y="0"/>
                </a:moveTo>
                <a:lnTo>
                  <a:pt x="0" y="0"/>
                </a:lnTo>
                <a:lnTo>
                  <a:pt x="0" y="2993833"/>
                </a:lnTo>
                <a:lnTo>
                  <a:pt x="5401421" y="2993833"/>
                </a:lnTo>
                <a:lnTo>
                  <a:pt x="5401421"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flipV="1">
            <a:off x="-1279423" y="-2617884"/>
            <a:ext cx="3980134" cy="4114800"/>
          </a:xfrm>
          <a:custGeom>
            <a:avLst/>
            <a:gdLst/>
            <a:ahLst/>
            <a:cxnLst/>
            <a:rect l="l" t="t" r="r" b="b"/>
            <a:pathLst>
              <a:path w="3980134" h="4114800">
                <a:moveTo>
                  <a:pt x="0" y="4114800"/>
                </a:moveTo>
                <a:lnTo>
                  <a:pt x="3980133" y="4114800"/>
                </a:lnTo>
                <a:lnTo>
                  <a:pt x="3980133"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H="1">
            <a:off x="15507358" y="8790084"/>
            <a:ext cx="3980134" cy="4114800"/>
          </a:xfrm>
          <a:custGeom>
            <a:avLst/>
            <a:gdLst/>
            <a:ahLst/>
            <a:cxnLst/>
            <a:rect l="l" t="t" r="r" b="b"/>
            <a:pathLst>
              <a:path w="3980134" h="4114800">
                <a:moveTo>
                  <a:pt x="3980134" y="0"/>
                </a:moveTo>
                <a:lnTo>
                  <a:pt x="0" y="0"/>
                </a:lnTo>
                <a:lnTo>
                  <a:pt x="0" y="4114800"/>
                </a:lnTo>
                <a:lnTo>
                  <a:pt x="3980134" y="4114800"/>
                </a:lnTo>
                <a:lnTo>
                  <a:pt x="3980134"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TextBox 2"/>
          <p:cNvSpPr txBox="1"/>
          <p:nvPr/>
        </p:nvSpPr>
        <p:spPr>
          <a:xfrm>
            <a:off x="1028700" y="857250"/>
            <a:ext cx="12038974" cy="1566544"/>
          </a:xfrm>
          <a:prstGeom prst="rect">
            <a:avLst/>
          </a:prstGeom>
        </p:spPr>
        <p:txBody>
          <a:bodyPr lIns="0" tIns="0" rIns="0" bIns="0" rtlCol="0" anchor="t">
            <a:spAutoFit/>
          </a:bodyPr>
          <a:lstStyle/>
          <a:p>
            <a:pPr algn="l">
              <a:lnSpc>
                <a:spcPts val="12880"/>
              </a:lnSpc>
            </a:pPr>
            <a:r>
              <a:rPr lang="en-US" sz="9200" b="1">
                <a:solidFill>
                  <a:srgbClr val="333C4A"/>
                </a:solidFill>
                <a:latin typeface="DM Sans Bold"/>
                <a:ea typeface="DM Sans Bold"/>
                <a:cs typeface="DM Sans Bold"/>
                <a:sym typeface="DM Sans Bold"/>
              </a:rPr>
              <a:t>Specific Objectives </a:t>
            </a:r>
          </a:p>
        </p:txBody>
      </p:sp>
      <p:sp>
        <p:nvSpPr>
          <p:cNvPr id="3" name="Freeform 3"/>
          <p:cNvSpPr/>
          <p:nvPr/>
        </p:nvSpPr>
        <p:spPr>
          <a:xfrm flipV="1">
            <a:off x="9990699" y="2057400"/>
            <a:ext cx="8345930" cy="8285233"/>
          </a:xfrm>
          <a:custGeom>
            <a:avLst/>
            <a:gdLst/>
            <a:ahLst/>
            <a:cxnLst/>
            <a:rect l="l" t="t" r="r" b="b"/>
            <a:pathLst>
              <a:path w="8345930" h="8285233">
                <a:moveTo>
                  <a:pt x="0" y="8285233"/>
                </a:moveTo>
                <a:lnTo>
                  <a:pt x="8345930" y="8285233"/>
                </a:lnTo>
                <a:lnTo>
                  <a:pt x="8345930" y="0"/>
                </a:lnTo>
                <a:lnTo>
                  <a:pt x="0" y="0"/>
                </a:lnTo>
                <a:lnTo>
                  <a:pt x="0" y="82852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028700" y="2795270"/>
            <a:ext cx="15196123" cy="6989734"/>
          </a:xfrm>
          <a:prstGeom prst="rect">
            <a:avLst/>
          </a:prstGeom>
        </p:spPr>
        <p:txBody>
          <a:bodyPr lIns="0" tIns="0" rIns="0" bIns="0" rtlCol="0" anchor="t">
            <a:spAutoFit/>
          </a:bodyPr>
          <a:lstStyle/>
          <a:p>
            <a:pPr algn="l">
              <a:lnSpc>
                <a:spcPts val="6056"/>
              </a:lnSpc>
            </a:pPr>
            <a:r>
              <a:rPr lang="en-US" sz="4325" b="1" dirty="0">
                <a:solidFill>
                  <a:srgbClr val="333C4A"/>
                </a:solidFill>
                <a:latin typeface="Libre Baskerville Bold"/>
                <a:ea typeface="Libre Baskerville Bold"/>
                <a:cs typeface="Libre Baskerville Bold"/>
                <a:sym typeface="Libre Baskerville Bold"/>
              </a:rPr>
              <a:t>1. Design a web-based system for document handling and printing.</a:t>
            </a:r>
          </a:p>
          <a:p>
            <a:pPr>
              <a:lnSpc>
                <a:spcPts val="6056"/>
              </a:lnSpc>
            </a:pPr>
            <a:r>
              <a:rPr lang="en-US" sz="4325" b="1" dirty="0">
                <a:solidFill>
                  <a:srgbClr val="333C4A"/>
                </a:solidFill>
                <a:latin typeface="Libre Baskerville Bold"/>
                <a:ea typeface="Libre Baskerville Bold"/>
                <a:cs typeface="Libre Baskerville Bold"/>
                <a:sym typeface="Libre Baskerville Bold"/>
              </a:rPr>
              <a:t>2. </a:t>
            </a:r>
            <a:r>
              <a:rPr lang="en-US" sz="4400" dirty="0"/>
              <a:t>allow the platform for seamless and cashless transactions through </a:t>
            </a:r>
            <a:r>
              <a:rPr lang="en-US" sz="4400" dirty="0" err="1"/>
              <a:t>GCash</a:t>
            </a:r>
            <a:r>
              <a:rPr lang="en-US" sz="4400" dirty="0"/>
              <a:t>.</a:t>
            </a:r>
          </a:p>
          <a:p>
            <a:pPr>
              <a:lnSpc>
                <a:spcPts val="6056"/>
              </a:lnSpc>
            </a:pPr>
            <a:r>
              <a:rPr lang="en-US" sz="4325" b="1" dirty="0">
                <a:solidFill>
                  <a:srgbClr val="333C4A"/>
                </a:solidFill>
                <a:latin typeface="Libre Baskerville Bold"/>
                <a:ea typeface="Libre Baskerville Bold"/>
                <a:cs typeface="Libre Baskerville Bold"/>
                <a:sym typeface="Libre Baskerville Bold"/>
              </a:rPr>
              <a:t>3. Utilize the touch screen interface payment platform for seamless and cashless transactions through </a:t>
            </a:r>
            <a:r>
              <a:rPr lang="en-US" sz="4325" b="1" dirty="0" err="1">
                <a:solidFill>
                  <a:srgbClr val="333C4A"/>
                </a:solidFill>
                <a:latin typeface="Libre Baskerville Bold"/>
                <a:ea typeface="Libre Baskerville Bold"/>
                <a:cs typeface="Libre Baskerville Bold"/>
                <a:sym typeface="Libre Baskerville Bold"/>
              </a:rPr>
              <a:t>GCash</a:t>
            </a:r>
            <a:r>
              <a:rPr lang="en-US" sz="4325" b="1" dirty="0">
                <a:solidFill>
                  <a:srgbClr val="333C4A"/>
                </a:solidFill>
                <a:latin typeface="Libre Baskerville Bold"/>
                <a:ea typeface="Libre Baskerville Bold"/>
                <a:cs typeface="Libre Baskerville Bold"/>
                <a:sym typeface="Libre Baskerville Bold"/>
              </a:rPr>
              <a:t>. </a:t>
            </a:r>
          </a:p>
          <a:p>
            <a:pPr algn="l">
              <a:lnSpc>
                <a:spcPts val="6056"/>
              </a:lnSpc>
            </a:pPr>
            <a:r>
              <a:rPr lang="en-US" sz="4325" b="1" dirty="0">
                <a:solidFill>
                  <a:srgbClr val="333C4A"/>
                </a:solidFill>
                <a:latin typeface="Libre Baskerville Bold"/>
                <a:ea typeface="Libre Baskerville Bold"/>
                <a:cs typeface="Libre Baskerville Bold"/>
                <a:sym typeface="Libre Baskerville Bold"/>
              </a:rPr>
              <a:t>3. Generate data analytics for sales, transaction logs, usage and printing volume . </a:t>
            </a:r>
          </a:p>
        </p:txBody>
      </p:sp>
      <p:sp>
        <p:nvSpPr>
          <p:cNvPr id="5" name="Freeform 5"/>
          <p:cNvSpPr/>
          <p:nvPr/>
        </p:nvSpPr>
        <p:spPr>
          <a:xfrm flipH="1" flipV="1">
            <a:off x="14989010" y="-1754332"/>
            <a:ext cx="3366669" cy="3480579"/>
          </a:xfrm>
          <a:custGeom>
            <a:avLst/>
            <a:gdLst/>
            <a:ahLst/>
            <a:cxnLst/>
            <a:rect l="l" t="t" r="r" b="b"/>
            <a:pathLst>
              <a:path w="3366669" h="3480579">
                <a:moveTo>
                  <a:pt x="3366669" y="3480579"/>
                </a:moveTo>
                <a:lnTo>
                  <a:pt x="0" y="3480579"/>
                </a:lnTo>
                <a:lnTo>
                  <a:pt x="0" y="0"/>
                </a:lnTo>
                <a:lnTo>
                  <a:pt x="3366669" y="0"/>
                </a:lnTo>
                <a:lnTo>
                  <a:pt x="3366669" y="3480579"/>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a:extLst>
            <a:ext uri="{FF2B5EF4-FFF2-40B4-BE49-F238E27FC236}">
              <a16:creationId xmlns:a16="http://schemas.microsoft.com/office/drawing/2014/main" id="{732855E5-CE37-53C7-0094-13BBDDF37D9A}"/>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66F5826F-179B-A00E-540C-5DD05F498E4F}"/>
              </a:ext>
            </a:extLst>
          </p:cNvPr>
          <p:cNvSpPr txBox="1"/>
          <p:nvPr/>
        </p:nvSpPr>
        <p:spPr>
          <a:xfrm>
            <a:off x="1028700" y="857250"/>
            <a:ext cx="12038974" cy="1566544"/>
          </a:xfrm>
          <a:prstGeom prst="rect">
            <a:avLst/>
          </a:prstGeom>
        </p:spPr>
        <p:txBody>
          <a:bodyPr lIns="0" tIns="0" rIns="0" bIns="0" rtlCol="0" anchor="t">
            <a:spAutoFit/>
          </a:bodyPr>
          <a:lstStyle/>
          <a:p>
            <a:pPr algn="l">
              <a:lnSpc>
                <a:spcPts val="12880"/>
              </a:lnSpc>
            </a:pPr>
            <a:r>
              <a:rPr lang="en-US" sz="9200" b="1">
                <a:solidFill>
                  <a:srgbClr val="333C4A"/>
                </a:solidFill>
                <a:latin typeface="DM Sans Bold"/>
                <a:ea typeface="DM Sans Bold"/>
                <a:cs typeface="DM Sans Bold"/>
                <a:sym typeface="DM Sans Bold"/>
              </a:rPr>
              <a:t>Specific Objectives </a:t>
            </a:r>
          </a:p>
        </p:txBody>
      </p:sp>
      <p:sp>
        <p:nvSpPr>
          <p:cNvPr id="3" name="Freeform 3">
            <a:extLst>
              <a:ext uri="{FF2B5EF4-FFF2-40B4-BE49-F238E27FC236}">
                <a16:creationId xmlns:a16="http://schemas.microsoft.com/office/drawing/2014/main" id="{908434A6-B6CB-CEA8-D71D-9B82A322423D}"/>
              </a:ext>
            </a:extLst>
          </p:cNvPr>
          <p:cNvSpPr/>
          <p:nvPr/>
        </p:nvSpPr>
        <p:spPr>
          <a:xfrm flipV="1">
            <a:off x="9990699" y="2057400"/>
            <a:ext cx="8345930" cy="8285233"/>
          </a:xfrm>
          <a:custGeom>
            <a:avLst/>
            <a:gdLst/>
            <a:ahLst/>
            <a:cxnLst/>
            <a:rect l="l" t="t" r="r" b="b"/>
            <a:pathLst>
              <a:path w="8345930" h="8285233">
                <a:moveTo>
                  <a:pt x="0" y="8285233"/>
                </a:moveTo>
                <a:lnTo>
                  <a:pt x="8345930" y="8285233"/>
                </a:lnTo>
                <a:lnTo>
                  <a:pt x="8345930" y="0"/>
                </a:lnTo>
                <a:lnTo>
                  <a:pt x="0" y="0"/>
                </a:lnTo>
                <a:lnTo>
                  <a:pt x="0" y="82852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a:extLst>
              <a:ext uri="{FF2B5EF4-FFF2-40B4-BE49-F238E27FC236}">
                <a16:creationId xmlns:a16="http://schemas.microsoft.com/office/drawing/2014/main" id="{A237A5E3-AA42-06F8-6650-2FB40F067EAA}"/>
              </a:ext>
            </a:extLst>
          </p:cNvPr>
          <p:cNvSpPr txBox="1"/>
          <p:nvPr/>
        </p:nvSpPr>
        <p:spPr>
          <a:xfrm>
            <a:off x="1028700" y="2752498"/>
            <a:ext cx="15196123" cy="3078407"/>
          </a:xfrm>
          <a:prstGeom prst="rect">
            <a:avLst/>
          </a:prstGeom>
        </p:spPr>
        <p:txBody>
          <a:bodyPr lIns="0" tIns="0" rIns="0" bIns="0" rtlCol="0" anchor="t">
            <a:spAutoFit/>
          </a:bodyPr>
          <a:lstStyle/>
          <a:p>
            <a:pPr algn="l">
              <a:lnSpc>
                <a:spcPts val="6056"/>
              </a:lnSpc>
            </a:pPr>
            <a:r>
              <a:rPr lang="en-US" sz="4325" b="1" dirty="0">
                <a:solidFill>
                  <a:srgbClr val="333C4A"/>
                </a:solidFill>
                <a:latin typeface="Libre Baskerville Bold"/>
                <a:ea typeface="Libre Baskerville Bold"/>
                <a:cs typeface="Libre Baskerville Bold"/>
                <a:sym typeface="Libre Baskerville Bold"/>
              </a:rPr>
              <a:t>4. Evaluate the system in terms of: </a:t>
            </a:r>
          </a:p>
          <a:p>
            <a:pPr algn="l">
              <a:lnSpc>
                <a:spcPts val="6056"/>
              </a:lnSpc>
            </a:pPr>
            <a:r>
              <a:rPr lang="en-US" sz="4325" b="1" dirty="0">
                <a:solidFill>
                  <a:srgbClr val="333C4A"/>
                </a:solidFill>
                <a:latin typeface="Libre Baskerville Bold"/>
                <a:ea typeface="Libre Baskerville Bold"/>
                <a:cs typeface="Libre Baskerville Bold"/>
                <a:sym typeface="Libre Baskerville Bold"/>
              </a:rPr>
              <a:t>4.1. Functionality </a:t>
            </a:r>
          </a:p>
          <a:p>
            <a:pPr algn="l">
              <a:lnSpc>
                <a:spcPts val="6056"/>
              </a:lnSpc>
            </a:pPr>
            <a:r>
              <a:rPr lang="en-US" sz="4325" b="1" dirty="0">
                <a:solidFill>
                  <a:srgbClr val="333C4A"/>
                </a:solidFill>
                <a:latin typeface="Libre Baskerville Bold"/>
                <a:ea typeface="Libre Baskerville Bold"/>
                <a:cs typeface="Libre Baskerville Bold"/>
                <a:sym typeface="Libre Baskerville Bold"/>
              </a:rPr>
              <a:t>4.2 Reliability </a:t>
            </a:r>
          </a:p>
          <a:p>
            <a:pPr algn="l">
              <a:lnSpc>
                <a:spcPts val="6056"/>
              </a:lnSpc>
            </a:pPr>
            <a:r>
              <a:rPr lang="en-US" sz="4325" b="1" dirty="0">
                <a:solidFill>
                  <a:srgbClr val="333C4A"/>
                </a:solidFill>
                <a:latin typeface="Libre Baskerville Bold"/>
                <a:ea typeface="Libre Baskerville Bold"/>
                <a:cs typeface="Libre Baskerville Bold"/>
                <a:sym typeface="Libre Baskerville Bold"/>
              </a:rPr>
              <a:t>4.3 User Convenience</a:t>
            </a:r>
          </a:p>
        </p:txBody>
      </p:sp>
      <p:sp>
        <p:nvSpPr>
          <p:cNvPr id="5" name="Freeform 5">
            <a:extLst>
              <a:ext uri="{FF2B5EF4-FFF2-40B4-BE49-F238E27FC236}">
                <a16:creationId xmlns:a16="http://schemas.microsoft.com/office/drawing/2014/main" id="{C7B22250-DC13-1684-D8B3-220E51350E60}"/>
              </a:ext>
            </a:extLst>
          </p:cNvPr>
          <p:cNvSpPr/>
          <p:nvPr/>
        </p:nvSpPr>
        <p:spPr>
          <a:xfrm flipH="1" flipV="1">
            <a:off x="14989010" y="-1754332"/>
            <a:ext cx="3366669" cy="3480579"/>
          </a:xfrm>
          <a:custGeom>
            <a:avLst/>
            <a:gdLst/>
            <a:ahLst/>
            <a:cxnLst/>
            <a:rect l="l" t="t" r="r" b="b"/>
            <a:pathLst>
              <a:path w="3366669" h="3480579">
                <a:moveTo>
                  <a:pt x="3366669" y="3480579"/>
                </a:moveTo>
                <a:lnTo>
                  <a:pt x="0" y="3480579"/>
                </a:lnTo>
                <a:lnTo>
                  <a:pt x="0" y="0"/>
                </a:lnTo>
                <a:lnTo>
                  <a:pt x="3366669" y="0"/>
                </a:lnTo>
                <a:lnTo>
                  <a:pt x="3366669" y="3480579"/>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74320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422720" y="1050749"/>
            <a:ext cx="15442560" cy="1566544"/>
          </a:xfrm>
          <a:prstGeom prst="rect">
            <a:avLst/>
          </a:prstGeom>
        </p:spPr>
        <p:txBody>
          <a:bodyPr lIns="0" tIns="0" rIns="0" bIns="0" rtlCol="0" anchor="t">
            <a:spAutoFit/>
          </a:bodyPr>
          <a:lstStyle/>
          <a:p>
            <a:pPr algn="ctr">
              <a:lnSpc>
                <a:spcPts val="12880"/>
              </a:lnSpc>
            </a:pPr>
            <a:r>
              <a:rPr lang="en-US" sz="9200" b="1">
                <a:solidFill>
                  <a:srgbClr val="333C4A"/>
                </a:solidFill>
                <a:latin typeface="DM Sans Bold"/>
                <a:ea typeface="DM Sans Bold"/>
                <a:cs typeface="DM Sans Bold"/>
                <a:sym typeface="DM Sans Bold"/>
              </a:rPr>
              <a:t>Significance of the Study </a:t>
            </a:r>
          </a:p>
        </p:txBody>
      </p:sp>
      <p:sp>
        <p:nvSpPr>
          <p:cNvPr id="5" name="Freeform 5"/>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2699120" y="3045919"/>
            <a:ext cx="13891593" cy="6833847"/>
          </a:xfrm>
          <a:prstGeom prst="rect">
            <a:avLst/>
          </a:prstGeom>
        </p:spPr>
        <p:txBody>
          <a:bodyPr lIns="0" tIns="0" rIns="0" bIns="0" rtlCol="0" anchor="t">
            <a:spAutoFit/>
          </a:bodyPr>
          <a:lstStyle/>
          <a:p>
            <a:pPr marL="933959" lvl="1" indent="-466980" algn="l">
              <a:lnSpc>
                <a:spcPts val="6056"/>
              </a:lnSpc>
              <a:buFont typeface="Arial"/>
              <a:buChar char="•"/>
            </a:pPr>
            <a:r>
              <a:rPr lang="en-US" sz="4325" b="1">
                <a:solidFill>
                  <a:srgbClr val="333C4A"/>
                </a:solidFill>
                <a:latin typeface="Libre Baskerville Bold"/>
                <a:ea typeface="Libre Baskerville Bold"/>
                <a:cs typeface="Libre Baskerville Bold"/>
                <a:sym typeface="Libre Baskerville Bold"/>
              </a:rPr>
              <a:t>To the Students.</a:t>
            </a:r>
          </a:p>
          <a:p>
            <a:pPr algn="l">
              <a:lnSpc>
                <a:spcPts val="6056"/>
              </a:lnSpc>
            </a:pPr>
            <a:endParaRPr lang="en-US" sz="4325" b="1">
              <a:solidFill>
                <a:srgbClr val="333C4A"/>
              </a:solidFill>
              <a:latin typeface="Libre Baskerville Bold"/>
              <a:ea typeface="Libre Baskerville Bold"/>
              <a:cs typeface="Libre Baskerville Bold"/>
              <a:sym typeface="Libre Baskerville Bold"/>
            </a:endParaRPr>
          </a:p>
          <a:p>
            <a:pPr marL="933959" lvl="1" indent="-466980" algn="l">
              <a:lnSpc>
                <a:spcPts val="6056"/>
              </a:lnSpc>
              <a:buFont typeface="Arial"/>
              <a:buChar char="•"/>
            </a:pPr>
            <a:r>
              <a:rPr lang="en-US" sz="4325" b="1">
                <a:solidFill>
                  <a:srgbClr val="333C4A"/>
                </a:solidFill>
                <a:latin typeface="Libre Baskerville Bold"/>
                <a:ea typeface="Libre Baskerville Bold"/>
                <a:cs typeface="Libre Baskerville Bold"/>
                <a:sym typeface="Libre Baskerville Bold"/>
              </a:rPr>
              <a:t>To the Library Staff and Administrators</a:t>
            </a:r>
          </a:p>
          <a:p>
            <a:pPr algn="l">
              <a:lnSpc>
                <a:spcPts val="6056"/>
              </a:lnSpc>
            </a:pPr>
            <a:endParaRPr lang="en-US" sz="4325" b="1">
              <a:solidFill>
                <a:srgbClr val="333C4A"/>
              </a:solidFill>
              <a:latin typeface="Libre Baskerville Bold"/>
              <a:ea typeface="Libre Baskerville Bold"/>
              <a:cs typeface="Libre Baskerville Bold"/>
              <a:sym typeface="Libre Baskerville Bold"/>
            </a:endParaRPr>
          </a:p>
          <a:p>
            <a:pPr marL="933959" lvl="1" indent="-466980" algn="l">
              <a:lnSpc>
                <a:spcPts val="6056"/>
              </a:lnSpc>
              <a:buFont typeface="Arial"/>
              <a:buChar char="•"/>
            </a:pPr>
            <a:r>
              <a:rPr lang="en-US" sz="4325" b="1">
                <a:solidFill>
                  <a:srgbClr val="333C4A"/>
                </a:solidFill>
                <a:latin typeface="Libre Baskerville Bold"/>
                <a:ea typeface="Libre Baskerville Bold"/>
                <a:cs typeface="Libre Baskerville Bold"/>
                <a:sym typeface="Libre Baskerville Bold"/>
              </a:rPr>
              <a:t>To the University Management</a:t>
            </a:r>
          </a:p>
          <a:p>
            <a:pPr algn="l">
              <a:lnSpc>
                <a:spcPts val="6056"/>
              </a:lnSpc>
            </a:pPr>
            <a:endParaRPr lang="en-US" sz="4325" b="1">
              <a:solidFill>
                <a:srgbClr val="333C4A"/>
              </a:solidFill>
              <a:latin typeface="Libre Baskerville Bold"/>
              <a:ea typeface="Libre Baskerville Bold"/>
              <a:cs typeface="Libre Baskerville Bold"/>
              <a:sym typeface="Libre Baskerville Bold"/>
            </a:endParaRPr>
          </a:p>
          <a:p>
            <a:pPr marL="933959" lvl="1" indent="-466980" algn="l">
              <a:lnSpc>
                <a:spcPts val="6056"/>
              </a:lnSpc>
              <a:buFont typeface="Arial"/>
              <a:buChar char="•"/>
            </a:pPr>
            <a:r>
              <a:rPr lang="en-US" sz="4325" b="1">
                <a:solidFill>
                  <a:srgbClr val="333C4A"/>
                </a:solidFill>
                <a:latin typeface="Libre Baskerville Bold"/>
                <a:ea typeface="Libre Baskerville Bold"/>
                <a:cs typeface="Libre Baskerville Bold"/>
                <a:sym typeface="Libre Baskerville Bold"/>
              </a:rPr>
              <a:t>To the Researchers</a:t>
            </a:r>
          </a:p>
          <a:p>
            <a:pPr algn="l">
              <a:lnSpc>
                <a:spcPts val="6056"/>
              </a:lnSpc>
            </a:pPr>
            <a:endParaRPr lang="en-US" sz="4325" b="1">
              <a:solidFill>
                <a:srgbClr val="333C4A"/>
              </a:solidFill>
              <a:latin typeface="Libre Baskerville Bold"/>
              <a:ea typeface="Libre Baskerville Bold"/>
              <a:cs typeface="Libre Baskerville Bold"/>
              <a:sym typeface="Libre Baskerville Bold"/>
            </a:endParaRPr>
          </a:p>
          <a:p>
            <a:pPr marL="933959" lvl="1" indent="-466980" algn="l">
              <a:lnSpc>
                <a:spcPts val="6056"/>
              </a:lnSpc>
              <a:buFont typeface="Arial"/>
              <a:buChar char="•"/>
            </a:pPr>
            <a:r>
              <a:rPr lang="en-US" sz="4325" b="1">
                <a:solidFill>
                  <a:srgbClr val="333C4A"/>
                </a:solidFill>
                <a:latin typeface="Libre Baskerville Bold"/>
                <a:ea typeface="Libre Baskerville Bold"/>
                <a:cs typeface="Libre Baskerville Bold"/>
                <a:sym typeface="Libre Baskerville Bold"/>
              </a:rPr>
              <a:t>To the Future Researchers</a:t>
            </a:r>
          </a:p>
        </p:txBody>
      </p:sp>
      <p:sp>
        <p:nvSpPr>
          <p:cNvPr id="7" name="Freeform 7"/>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TextBox 2"/>
          <p:cNvSpPr txBox="1"/>
          <p:nvPr/>
        </p:nvSpPr>
        <p:spPr>
          <a:xfrm>
            <a:off x="3036249" y="3936051"/>
            <a:ext cx="12215502" cy="1566544"/>
          </a:xfrm>
          <a:prstGeom prst="rect">
            <a:avLst/>
          </a:prstGeom>
        </p:spPr>
        <p:txBody>
          <a:bodyPr lIns="0" tIns="0" rIns="0" bIns="0" rtlCol="0" anchor="t">
            <a:spAutoFit/>
          </a:bodyPr>
          <a:lstStyle/>
          <a:p>
            <a:pPr algn="l">
              <a:lnSpc>
                <a:spcPts val="12880"/>
              </a:lnSpc>
            </a:pPr>
            <a:r>
              <a:rPr lang="en-US" sz="9200" b="1">
                <a:solidFill>
                  <a:srgbClr val="333C4A"/>
                </a:solidFill>
                <a:latin typeface="DM Sans Bold"/>
                <a:ea typeface="DM Sans Bold"/>
                <a:cs typeface="DM Sans Bold"/>
                <a:sym typeface="DM Sans Bold"/>
              </a:rPr>
              <a:t>Scope and Limitation </a:t>
            </a:r>
          </a:p>
        </p:txBody>
      </p:sp>
      <p:sp>
        <p:nvSpPr>
          <p:cNvPr id="3" name="Freeform 3"/>
          <p:cNvSpPr/>
          <p:nvPr/>
        </p:nvSpPr>
        <p:spPr>
          <a:xfrm flipV="1">
            <a:off x="9990699" y="2057400"/>
            <a:ext cx="8345930" cy="8285233"/>
          </a:xfrm>
          <a:custGeom>
            <a:avLst/>
            <a:gdLst/>
            <a:ahLst/>
            <a:cxnLst/>
            <a:rect l="l" t="t" r="r" b="b"/>
            <a:pathLst>
              <a:path w="8345930" h="8285233">
                <a:moveTo>
                  <a:pt x="0" y="8285233"/>
                </a:moveTo>
                <a:lnTo>
                  <a:pt x="8345930" y="8285233"/>
                </a:lnTo>
                <a:lnTo>
                  <a:pt x="8345930" y="0"/>
                </a:lnTo>
                <a:lnTo>
                  <a:pt x="0" y="0"/>
                </a:lnTo>
                <a:lnTo>
                  <a:pt x="0" y="82852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989010" y="-1754332"/>
            <a:ext cx="3366669" cy="3480579"/>
          </a:xfrm>
          <a:custGeom>
            <a:avLst/>
            <a:gdLst/>
            <a:ahLst/>
            <a:cxnLst/>
            <a:rect l="l" t="t" r="r" b="b"/>
            <a:pathLst>
              <a:path w="3366669" h="3480579">
                <a:moveTo>
                  <a:pt x="3366669" y="3480579"/>
                </a:moveTo>
                <a:lnTo>
                  <a:pt x="0" y="3480579"/>
                </a:lnTo>
                <a:lnTo>
                  <a:pt x="0" y="0"/>
                </a:lnTo>
                <a:lnTo>
                  <a:pt x="3366669" y="0"/>
                </a:lnTo>
                <a:lnTo>
                  <a:pt x="3366669" y="348057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902108" y="8310183"/>
            <a:ext cx="2907154" cy="3005517"/>
          </a:xfrm>
          <a:custGeom>
            <a:avLst/>
            <a:gdLst/>
            <a:ahLst/>
            <a:cxnLst/>
            <a:rect l="l" t="t" r="r" b="b"/>
            <a:pathLst>
              <a:path w="2907154" h="3005517">
                <a:moveTo>
                  <a:pt x="0" y="0"/>
                </a:moveTo>
                <a:lnTo>
                  <a:pt x="2907155" y="0"/>
                </a:lnTo>
                <a:lnTo>
                  <a:pt x="2907155" y="3005517"/>
                </a:lnTo>
                <a:lnTo>
                  <a:pt x="0" y="30055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TextBox 2"/>
          <p:cNvSpPr txBox="1"/>
          <p:nvPr/>
        </p:nvSpPr>
        <p:spPr>
          <a:xfrm>
            <a:off x="1028700" y="490856"/>
            <a:ext cx="12215502" cy="1566544"/>
          </a:xfrm>
          <a:prstGeom prst="rect">
            <a:avLst/>
          </a:prstGeom>
        </p:spPr>
        <p:txBody>
          <a:bodyPr lIns="0" tIns="0" rIns="0" bIns="0" rtlCol="0" anchor="t">
            <a:spAutoFit/>
          </a:bodyPr>
          <a:lstStyle/>
          <a:p>
            <a:pPr algn="l">
              <a:lnSpc>
                <a:spcPts val="12880"/>
              </a:lnSpc>
            </a:pPr>
            <a:r>
              <a:rPr lang="en-US" sz="9200" b="1">
                <a:solidFill>
                  <a:srgbClr val="333C4A"/>
                </a:solidFill>
                <a:latin typeface="DM Sans Bold"/>
                <a:ea typeface="DM Sans Bold"/>
                <a:cs typeface="DM Sans Bold"/>
                <a:sym typeface="DM Sans Bold"/>
              </a:rPr>
              <a:t>Scope  </a:t>
            </a:r>
          </a:p>
        </p:txBody>
      </p:sp>
      <p:sp>
        <p:nvSpPr>
          <p:cNvPr id="3" name="Freeform 3"/>
          <p:cNvSpPr/>
          <p:nvPr/>
        </p:nvSpPr>
        <p:spPr>
          <a:xfrm flipV="1">
            <a:off x="9990699" y="2057400"/>
            <a:ext cx="8345930" cy="8285233"/>
          </a:xfrm>
          <a:custGeom>
            <a:avLst/>
            <a:gdLst/>
            <a:ahLst/>
            <a:cxnLst/>
            <a:rect l="l" t="t" r="r" b="b"/>
            <a:pathLst>
              <a:path w="8345930" h="8285233">
                <a:moveTo>
                  <a:pt x="0" y="8285233"/>
                </a:moveTo>
                <a:lnTo>
                  <a:pt x="8345930" y="8285233"/>
                </a:lnTo>
                <a:lnTo>
                  <a:pt x="8345930" y="0"/>
                </a:lnTo>
                <a:lnTo>
                  <a:pt x="0" y="0"/>
                </a:lnTo>
                <a:lnTo>
                  <a:pt x="0" y="82852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989010" y="-1754332"/>
            <a:ext cx="3366669" cy="3480579"/>
          </a:xfrm>
          <a:custGeom>
            <a:avLst/>
            <a:gdLst/>
            <a:ahLst/>
            <a:cxnLst/>
            <a:rect l="l" t="t" r="r" b="b"/>
            <a:pathLst>
              <a:path w="3366669" h="3480579">
                <a:moveTo>
                  <a:pt x="3366669" y="3480579"/>
                </a:moveTo>
                <a:lnTo>
                  <a:pt x="0" y="3480579"/>
                </a:lnTo>
                <a:lnTo>
                  <a:pt x="0" y="0"/>
                </a:lnTo>
                <a:lnTo>
                  <a:pt x="3366669" y="0"/>
                </a:lnTo>
                <a:lnTo>
                  <a:pt x="3366669" y="348057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022733" y="2631440"/>
            <a:ext cx="13140931" cy="5767070"/>
          </a:xfrm>
          <a:prstGeom prst="rect">
            <a:avLst/>
          </a:prstGeom>
        </p:spPr>
        <p:txBody>
          <a:bodyPr lIns="0" tIns="0" rIns="0" bIns="0" rtlCol="0" anchor="t">
            <a:spAutoFit/>
          </a:bodyPr>
          <a:lstStyle/>
          <a:p>
            <a:pPr marL="1014731" lvl="1" indent="-507365" algn="l">
              <a:lnSpc>
                <a:spcPts val="6580"/>
              </a:lnSpc>
              <a:buFont typeface="Arial"/>
              <a:buChar char="•"/>
            </a:pPr>
            <a:r>
              <a:rPr lang="en-US" sz="4700">
                <a:solidFill>
                  <a:srgbClr val="333C4A"/>
                </a:solidFill>
                <a:latin typeface="Libre Baskerville"/>
                <a:ea typeface="Libre Baskerville"/>
                <a:cs typeface="Libre Baskerville"/>
                <a:sym typeface="Libre Baskerville"/>
              </a:rPr>
              <a:t>This study focuses on the design, development, and evaluation of a Self Service Printing Kiosk at the Sultan Kudarat State University – Isulan Campus (SKSU–Isulan) Library, integrated with a cashless payment system via GCash. </a:t>
            </a:r>
          </a:p>
        </p:txBody>
      </p:sp>
      <p:sp>
        <p:nvSpPr>
          <p:cNvPr id="6" name="Freeform 6"/>
          <p:cNvSpPr/>
          <p:nvPr/>
        </p:nvSpPr>
        <p:spPr>
          <a:xfrm>
            <a:off x="-902108" y="8310183"/>
            <a:ext cx="2907154" cy="3005517"/>
          </a:xfrm>
          <a:custGeom>
            <a:avLst/>
            <a:gdLst/>
            <a:ahLst/>
            <a:cxnLst/>
            <a:rect l="l" t="t" r="r" b="b"/>
            <a:pathLst>
              <a:path w="2907154" h="3005517">
                <a:moveTo>
                  <a:pt x="0" y="0"/>
                </a:moveTo>
                <a:lnTo>
                  <a:pt x="2907155" y="0"/>
                </a:lnTo>
                <a:lnTo>
                  <a:pt x="2907155" y="3005517"/>
                </a:lnTo>
                <a:lnTo>
                  <a:pt x="0" y="30055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a:extLst>
            <a:ext uri="{FF2B5EF4-FFF2-40B4-BE49-F238E27FC236}">
              <a16:creationId xmlns:a16="http://schemas.microsoft.com/office/drawing/2014/main" id="{7239C325-FE64-323F-548C-699A8662A8B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CC43F24-6EC4-5413-1DB2-ED9340A866D1}"/>
              </a:ext>
            </a:extLst>
          </p:cNvPr>
          <p:cNvSpPr txBox="1"/>
          <p:nvPr/>
        </p:nvSpPr>
        <p:spPr>
          <a:xfrm>
            <a:off x="1028700" y="490856"/>
            <a:ext cx="12215502" cy="1566544"/>
          </a:xfrm>
          <a:prstGeom prst="rect">
            <a:avLst/>
          </a:prstGeom>
        </p:spPr>
        <p:txBody>
          <a:bodyPr lIns="0" tIns="0" rIns="0" bIns="0" rtlCol="0" anchor="t">
            <a:spAutoFit/>
          </a:bodyPr>
          <a:lstStyle/>
          <a:p>
            <a:pPr algn="l">
              <a:lnSpc>
                <a:spcPts val="12880"/>
              </a:lnSpc>
            </a:pPr>
            <a:r>
              <a:rPr lang="en-US" sz="9200" b="1">
                <a:solidFill>
                  <a:srgbClr val="333C4A"/>
                </a:solidFill>
                <a:latin typeface="DM Sans Bold"/>
                <a:ea typeface="DM Sans Bold"/>
                <a:cs typeface="DM Sans Bold"/>
                <a:sym typeface="DM Sans Bold"/>
              </a:rPr>
              <a:t>Scope  </a:t>
            </a:r>
          </a:p>
        </p:txBody>
      </p:sp>
      <p:sp>
        <p:nvSpPr>
          <p:cNvPr id="3" name="Freeform 3">
            <a:extLst>
              <a:ext uri="{FF2B5EF4-FFF2-40B4-BE49-F238E27FC236}">
                <a16:creationId xmlns:a16="http://schemas.microsoft.com/office/drawing/2014/main" id="{D17F4FE6-1ABB-2B5A-E209-388DF12214BB}"/>
              </a:ext>
            </a:extLst>
          </p:cNvPr>
          <p:cNvSpPr/>
          <p:nvPr/>
        </p:nvSpPr>
        <p:spPr>
          <a:xfrm flipV="1">
            <a:off x="9990699" y="2057400"/>
            <a:ext cx="8345930" cy="8285233"/>
          </a:xfrm>
          <a:custGeom>
            <a:avLst/>
            <a:gdLst/>
            <a:ahLst/>
            <a:cxnLst/>
            <a:rect l="l" t="t" r="r" b="b"/>
            <a:pathLst>
              <a:path w="8345930" h="8285233">
                <a:moveTo>
                  <a:pt x="0" y="8285233"/>
                </a:moveTo>
                <a:lnTo>
                  <a:pt x="8345930" y="8285233"/>
                </a:lnTo>
                <a:lnTo>
                  <a:pt x="8345930" y="0"/>
                </a:lnTo>
                <a:lnTo>
                  <a:pt x="0" y="0"/>
                </a:lnTo>
                <a:lnTo>
                  <a:pt x="0" y="82852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A3C1C00D-E23D-D79E-DE96-C7919BA70C0A}"/>
              </a:ext>
            </a:extLst>
          </p:cNvPr>
          <p:cNvSpPr/>
          <p:nvPr/>
        </p:nvSpPr>
        <p:spPr>
          <a:xfrm flipH="1" flipV="1">
            <a:off x="14989010" y="-1754332"/>
            <a:ext cx="3366669" cy="3480579"/>
          </a:xfrm>
          <a:custGeom>
            <a:avLst/>
            <a:gdLst/>
            <a:ahLst/>
            <a:cxnLst/>
            <a:rect l="l" t="t" r="r" b="b"/>
            <a:pathLst>
              <a:path w="3366669" h="3480579">
                <a:moveTo>
                  <a:pt x="3366669" y="3480579"/>
                </a:moveTo>
                <a:lnTo>
                  <a:pt x="0" y="3480579"/>
                </a:lnTo>
                <a:lnTo>
                  <a:pt x="0" y="0"/>
                </a:lnTo>
                <a:lnTo>
                  <a:pt x="3366669" y="0"/>
                </a:lnTo>
                <a:lnTo>
                  <a:pt x="3366669" y="348057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a:extLst>
              <a:ext uri="{FF2B5EF4-FFF2-40B4-BE49-F238E27FC236}">
                <a16:creationId xmlns:a16="http://schemas.microsoft.com/office/drawing/2014/main" id="{ECD815FF-2D2D-542F-036C-DBA096ACDE16}"/>
              </a:ext>
            </a:extLst>
          </p:cNvPr>
          <p:cNvSpPr txBox="1"/>
          <p:nvPr/>
        </p:nvSpPr>
        <p:spPr>
          <a:xfrm>
            <a:off x="1022733" y="2631440"/>
            <a:ext cx="13140931" cy="4177810"/>
          </a:xfrm>
          <a:prstGeom prst="rect">
            <a:avLst/>
          </a:prstGeom>
        </p:spPr>
        <p:txBody>
          <a:bodyPr lIns="0" tIns="0" rIns="0" bIns="0" rtlCol="0" anchor="t">
            <a:spAutoFit/>
          </a:bodyPr>
          <a:lstStyle/>
          <a:p>
            <a:pPr marL="1014731" lvl="1" indent="-507365" algn="l">
              <a:lnSpc>
                <a:spcPts val="6580"/>
              </a:lnSpc>
              <a:buFont typeface="Arial"/>
              <a:buChar char="•"/>
            </a:pPr>
            <a:r>
              <a:rPr lang="en-US" sz="4700" dirty="0">
                <a:solidFill>
                  <a:srgbClr val="333C4A"/>
                </a:solidFill>
                <a:latin typeface="Libre Baskerville"/>
                <a:ea typeface="Libre Baskerville"/>
                <a:cs typeface="Libre Baskerville"/>
                <a:sym typeface="Libre Baskerville"/>
              </a:rPr>
              <a:t>The system aims to provide students, faculty, and staff with a convenient, automated, and secure method of printing documents without the need for manual assistance. </a:t>
            </a:r>
          </a:p>
        </p:txBody>
      </p:sp>
      <p:sp>
        <p:nvSpPr>
          <p:cNvPr id="6" name="Freeform 6">
            <a:extLst>
              <a:ext uri="{FF2B5EF4-FFF2-40B4-BE49-F238E27FC236}">
                <a16:creationId xmlns:a16="http://schemas.microsoft.com/office/drawing/2014/main" id="{5F97E4B3-8697-8B97-BDA4-660D732403DF}"/>
              </a:ext>
            </a:extLst>
          </p:cNvPr>
          <p:cNvSpPr/>
          <p:nvPr/>
        </p:nvSpPr>
        <p:spPr>
          <a:xfrm>
            <a:off x="-902108" y="8310183"/>
            <a:ext cx="2907154" cy="3005517"/>
          </a:xfrm>
          <a:custGeom>
            <a:avLst/>
            <a:gdLst/>
            <a:ahLst/>
            <a:cxnLst/>
            <a:rect l="l" t="t" r="r" b="b"/>
            <a:pathLst>
              <a:path w="2907154" h="3005517">
                <a:moveTo>
                  <a:pt x="0" y="0"/>
                </a:moveTo>
                <a:lnTo>
                  <a:pt x="2907155" y="0"/>
                </a:lnTo>
                <a:lnTo>
                  <a:pt x="2907155" y="3005517"/>
                </a:lnTo>
                <a:lnTo>
                  <a:pt x="0" y="30055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656303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TextBox 2"/>
          <p:cNvSpPr txBox="1"/>
          <p:nvPr/>
        </p:nvSpPr>
        <p:spPr>
          <a:xfrm>
            <a:off x="1028700" y="490856"/>
            <a:ext cx="12215502" cy="1566544"/>
          </a:xfrm>
          <a:prstGeom prst="rect">
            <a:avLst/>
          </a:prstGeom>
        </p:spPr>
        <p:txBody>
          <a:bodyPr lIns="0" tIns="0" rIns="0" bIns="0" rtlCol="0" anchor="t">
            <a:spAutoFit/>
          </a:bodyPr>
          <a:lstStyle/>
          <a:p>
            <a:pPr algn="l">
              <a:lnSpc>
                <a:spcPts val="12880"/>
              </a:lnSpc>
            </a:pPr>
            <a:r>
              <a:rPr lang="en-US" sz="9200" b="1">
                <a:solidFill>
                  <a:srgbClr val="333C4A"/>
                </a:solidFill>
                <a:latin typeface="DM Sans Bold"/>
                <a:ea typeface="DM Sans Bold"/>
                <a:cs typeface="DM Sans Bold"/>
                <a:sym typeface="DM Sans Bold"/>
              </a:rPr>
              <a:t>Scope  </a:t>
            </a:r>
          </a:p>
        </p:txBody>
      </p:sp>
      <p:sp>
        <p:nvSpPr>
          <p:cNvPr id="3" name="Freeform 3"/>
          <p:cNvSpPr/>
          <p:nvPr/>
        </p:nvSpPr>
        <p:spPr>
          <a:xfrm flipV="1">
            <a:off x="9990699" y="2057400"/>
            <a:ext cx="8345930" cy="8285233"/>
          </a:xfrm>
          <a:custGeom>
            <a:avLst/>
            <a:gdLst/>
            <a:ahLst/>
            <a:cxnLst/>
            <a:rect l="l" t="t" r="r" b="b"/>
            <a:pathLst>
              <a:path w="8345930" h="8285233">
                <a:moveTo>
                  <a:pt x="0" y="8285233"/>
                </a:moveTo>
                <a:lnTo>
                  <a:pt x="8345930" y="8285233"/>
                </a:lnTo>
                <a:lnTo>
                  <a:pt x="8345930" y="0"/>
                </a:lnTo>
                <a:lnTo>
                  <a:pt x="0" y="0"/>
                </a:lnTo>
                <a:lnTo>
                  <a:pt x="0" y="82852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989010" y="-1754332"/>
            <a:ext cx="3366669" cy="3480579"/>
          </a:xfrm>
          <a:custGeom>
            <a:avLst/>
            <a:gdLst/>
            <a:ahLst/>
            <a:cxnLst/>
            <a:rect l="l" t="t" r="r" b="b"/>
            <a:pathLst>
              <a:path w="3366669" h="3480579">
                <a:moveTo>
                  <a:pt x="3366669" y="3480579"/>
                </a:moveTo>
                <a:lnTo>
                  <a:pt x="0" y="3480579"/>
                </a:lnTo>
                <a:lnTo>
                  <a:pt x="0" y="0"/>
                </a:lnTo>
                <a:lnTo>
                  <a:pt x="3366669" y="0"/>
                </a:lnTo>
                <a:lnTo>
                  <a:pt x="3366669" y="348057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022733" y="2631440"/>
            <a:ext cx="15868298" cy="4109720"/>
          </a:xfrm>
          <a:prstGeom prst="rect">
            <a:avLst/>
          </a:prstGeom>
        </p:spPr>
        <p:txBody>
          <a:bodyPr lIns="0" tIns="0" rIns="0" bIns="0" rtlCol="0" anchor="t">
            <a:spAutoFit/>
          </a:bodyPr>
          <a:lstStyle/>
          <a:p>
            <a:pPr algn="l">
              <a:lnSpc>
                <a:spcPts val="6580"/>
              </a:lnSpc>
            </a:pPr>
            <a:r>
              <a:rPr lang="en-US" sz="4700">
                <a:solidFill>
                  <a:srgbClr val="333C4A"/>
                </a:solidFill>
                <a:latin typeface="Libre Baskerville"/>
                <a:ea typeface="Libre Baskerville"/>
                <a:cs typeface="Libre Baskerville"/>
                <a:sym typeface="Libre Baskerville"/>
              </a:rPr>
              <a:t>The evaluation of the system centers on three major criteria: </a:t>
            </a:r>
          </a:p>
          <a:p>
            <a:pPr marL="1014731" lvl="1" indent="-507365" algn="l">
              <a:lnSpc>
                <a:spcPts val="6580"/>
              </a:lnSpc>
              <a:buFont typeface="Arial"/>
              <a:buChar char="•"/>
            </a:pPr>
            <a:r>
              <a:rPr lang="en-US" sz="4700">
                <a:solidFill>
                  <a:srgbClr val="333C4A"/>
                </a:solidFill>
                <a:latin typeface="Libre Baskerville"/>
                <a:ea typeface="Libre Baskerville"/>
                <a:cs typeface="Libre Baskerville"/>
                <a:sym typeface="Libre Baskerville"/>
              </a:rPr>
              <a:t>Functionality</a:t>
            </a:r>
          </a:p>
          <a:p>
            <a:pPr marL="1014731" lvl="1" indent="-507365" algn="l">
              <a:lnSpc>
                <a:spcPts val="6580"/>
              </a:lnSpc>
              <a:buFont typeface="Arial"/>
              <a:buChar char="•"/>
            </a:pPr>
            <a:r>
              <a:rPr lang="en-US" sz="4700">
                <a:solidFill>
                  <a:srgbClr val="333C4A"/>
                </a:solidFill>
                <a:latin typeface="Libre Baskerville"/>
                <a:ea typeface="Libre Baskerville"/>
                <a:cs typeface="Libre Baskerville"/>
                <a:sym typeface="Libre Baskerville"/>
              </a:rPr>
              <a:t>Reliability, and </a:t>
            </a:r>
          </a:p>
          <a:p>
            <a:pPr marL="1014731" lvl="1" indent="-507365" algn="l">
              <a:lnSpc>
                <a:spcPts val="6580"/>
              </a:lnSpc>
              <a:buFont typeface="Arial"/>
              <a:buChar char="•"/>
            </a:pPr>
            <a:r>
              <a:rPr lang="en-US" sz="4700">
                <a:solidFill>
                  <a:srgbClr val="333C4A"/>
                </a:solidFill>
                <a:latin typeface="Libre Baskerville"/>
                <a:ea typeface="Libre Baskerville"/>
                <a:cs typeface="Libre Baskerville"/>
                <a:sym typeface="Libre Baskerville"/>
              </a:rPr>
              <a:t>User convenience. </a:t>
            </a:r>
          </a:p>
        </p:txBody>
      </p:sp>
      <p:sp>
        <p:nvSpPr>
          <p:cNvPr id="6" name="Freeform 6"/>
          <p:cNvSpPr/>
          <p:nvPr/>
        </p:nvSpPr>
        <p:spPr>
          <a:xfrm>
            <a:off x="-902108" y="8310183"/>
            <a:ext cx="2907154" cy="3005517"/>
          </a:xfrm>
          <a:custGeom>
            <a:avLst/>
            <a:gdLst/>
            <a:ahLst/>
            <a:cxnLst/>
            <a:rect l="l" t="t" r="r" b="b"/>
            <a:pathLst>
              <a:path w="2907154" h="3005517">
                <a:moveTo>
                  <a:pt x="0" y="0"/>
                </a:moveTo>
                <a:lnTo>
                  <a:pt x="2907155" y="0"/>
                </a:lnTo>
                <a:lnTo>
                  <a:pt x="2907155" y="3005517"/>
                </a:lnTo>
                <a:lnTo>
                  <a:pt x="0" y="30055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TextBox 2"/>
          <p:cNvSpPr txBox="1"/>
          <p:nvPr/>
        </p:nvSpPr>
        <p:spPr>
          <a:xfrm>
            <a:off x="1028700" y="490856"/>
            <a:ext cx="12215502" cy="1566544"/>
          </a:xfrm>
          <a:prstGeom prst="rect">
            <a:avLst/>
          </a:prstGeom>
        </p:spPr>
        <p:txBody>
          <a:bodyPr lIns="0" tIns="0" rIns="0" bIns="0" rtlCol="0" anchor="t">
            <a:spAutoFit/>
          </a:bodyPr>
          <a:lstStyle/>
          <a:p>
            <a:pPr algn="l">
              <a:lnSpc>
                <a:spcPts val="12880"/>
              </a:lnSpc>
            </a:pPr>
            <a:r>
              <a:rPr lang="en-US" sz="9200" b="1">
                <a:solidFill>
                  <a:srgbClr val="333C4A"/>
                </a:solidFill>
                <a:latin typeface="DM Sans Bold"/>
                <a:ea typeface="DM Sans Bold"/>
                <a:cs typeface="DM Sans Bold"/>
                <a:sym typeface="DM Sans Bold"/>
              </a:rPr>
              <a:t>Limitation</a:t>
            </a:r>
          </a:p>
        </p:txBody>
      </p:sp>
      <p:sp>
        <p:nvSpPr>
          <p:cNvPr id="3" name="Freeform 3"/>
          <p:cNvSpPr/>
          <p:nvPr/>
        </p:nvSpPr>
        <p:spPr>
          <a:xfrm flipV="1">
            <a:off x="9990699" y="2057400"/>
            <a:ext cx="8345930" cy="8285233"/>
          </a:xfrm>
          <a:custGeom>
            <a:avLst/>
            <a:gdLst/>
            <a:ahLst/>
            <a:cxnLst/>
            <a:rect l="l" t="t" r="r" b="b"/>
            <a:pathLst>
              <a:path w="8345930" h="8285233">
                <a:moveTo>
                  <a:pt x="0" y="8285233"/>
                </a:moveTo>
                <a:lnTo>
                  <a:pt x="8345930" y="8285233"/>
                </a:lnTo>
                <a:lnTo>
                  <a:pt x="8345930" y="0"/>
                </a:lnTo>
                <a:lnTo>
                  <a:pt x="0" y="0"/>
                </a:lnTo>
                <a:lnTo>
                  <a:pt x="0" y="82852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989010" y="-1754332"/>
            <a:ext cx="3366669" cy="3480579"/>
          </a:xfrm>
          <a:custGeom>
            <a:avLst/>
            <a:gdLst/>
            <a:ahLst/>
            <a:cxnLst/>
            <a:rect l="l" t="t" r="r" b="b"/>
            <a:pathLst>
              <a:path w="3366669" h="3480579">
                <a:moveTo>
                  <a:pt x="3366669" y="3480579"/>
                </a:moveTo>
                <a:lnTo>
                  <a:pt x="0" y="3480579"/>
                </a:lnTo>
                <a:lnTo>
                  <a:pt x="0" y="0"/>
                </a:lnTo>
                <a:lnTo>
                  <a:pt x="3366669" y="0"/>
                </a:lnTo>
                <a:lnTo>
                  <a:pt x="3366669" y="348057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022733" y="2640965"/>
            <a:ext cx="16236567" cy="6487160"/>
          </a:xfrm>
          <a:prstGeom prst="rect">
            <a:avLst/>
          </a:prstGeom>
        </p:spPr>
        <p:txBody>
          <a:bodyPr lIns="0" tIns="0" rIns="0" bIns="0" rtlCol="0" anchor="t">
            <a:spAutoFit/>
          </a:bodyPr>
          <a:lstStyle/>
          <a:p>
            <a:pPr marL="885194" lvl="1" indent="-442597" algn="l">
              <a:lnSpc>
                <a:spcPts val="5740"/>
              </a:lnSpc>
              <a:buFont typeface="Arial"/>
              <a:buChar char="•"/>
            </a:pPr>
            <a:r>
              <a:rPr lang="en-US" sz="4100" b="1" dirty="0">
                <a:solidFill>
                  <a:srgbClr val="333C4A"/>
                </a:solidFill>
                <a:latin typeface="Libre Baskerville Bold"/>
                <a:ea typeface="Libre Baskerville Bold"/>
                <a:cs typeface="Libre Baskerville Bold"/>
                <a:sym typeface="Libre Baskerville Bold"/>
              </a:rPr>
              <a:t>The study is limited only to the library setting of SKSU–</a:t>
            </a:r>
            <a:r>
              <a:rPr lang="en-US" sz="4100" b="1" dirty="0" err="1">
                <a:solidFill>
                  <a:srgbClr val="333C4A"/>
                </a:solidFill>
                <a:latin typeface="Libre Baskerville Bold"/>
                <a:ea typeface="Libre Baskerville Bold"/>
                <a:cs typeface="Libre Baskerville Bold"/>
                <a:sym typeface="Libre Baskerville Bold"/>
              </a:rPr>
              <a:t>Isulan</a:t>
            </a:r>
            <a:r>
              <a:rPr lang="en-US" sz="4100" b="1" dirty="0">
                <a:solidFill>
                  <a:srgbClr val="333C4A"/>
                </a:solidFill>
                <a:latin typeface="Libre Baskerville Bold"/>
                <a:ea typeface="Libre Baskerville Bold"/>
                <a:cs typeface="Libre Baskerville Bold"/>
                <a:sym typeface="Libre Baskerville Bold"/>
              </a:rPr>
              <a:t> Campus. </a:t>
            </a:r>
          </a:p>
          <a:p>
            <a:pPr algn="l">
              <a:lnSpc>
                <a:spcPts val="5740"/>
              </a:lnSpc>
            </a:pPr>
            <a:endParaRPr lang="en-US" sz="4100" b="1" dirty="0">
              <a:solidFill>
                <a:srgbClr val="333C4A"/>
              </a:solidFill>
              <a:latin typeface="Libre Baskerville Bold"/>
              <a:ea typeface="Libre Baskerville Bold"/>
              <a:cs typeface="Libre Baskerville Bold"/>
              <a:sym typeface="Libre Baskerville Bold"/>
            </a:endParaRPr>
          </a:p>
          <a:p>
            <a:pPr marL="885194" lvl="1" indent="-442597" algn="l">
              <a:lnSpc>
                <a:spcPts val="5740"/>
              </a:lnSpc>
              <a:buFont typeface="Arial"/>
              <a:buChar char="•"/>
            </a:pPr>
            <a:r>
              <a:rPr lang="en-US" sz="4100" b="1" dirty="0">
                <a:solidFill>
                  <a:srgbClr val="333C4A"/>
                </a:solidFill>
                <a:latin typeface="Libre Baskerville Bold"/>
                <a:ea typeface="Libre Baskerville Bold"/>
                <a:cs typeface="Libre Baskerville Bold"/>
                <a:sym typeface="Libre Baskerville Bold"/>
              </a:rPr>
              <a:t>The cashless payment feature is restricted to </a:t>
            </a:r>
            <a:r>
              <a:rPr lang="en-US" sz="4100" b="1" dirty="0" err="1">
                <a:solidFill>
                  <a:srgbClr val="333C4A"/>
                </a:solidFill>
                <a:latin typeface="Libre Baskerville Bold"/>
                <a:ea typeface="Libre Baskerville Bold"/>
                <a:cs typeface="Libre Baskerville Bold"/>
                <a:sym typeface="Libre Baskerville Bold"/>
              </a:rPr>
              <a:t>GCash</a:t>
            </a:r>
            <a:r>
              <a:rPr lang="en-US" sz="4100" b="1" dirty="0">
                <a:solidFill>
                  <a:srgbClr val="333C4A"/>
                </a:solidFill>
                <a:latin typeface="Libre Baskerville Bold"/>
                <a:ea typeface="Libre Baskerville Bold"/>
                <a:cs typeface="Libre Baskerville Bold"/>
                <a:sym typeface="Libre Baskerville Bold"/>
              </a:rPr>
              <a:t> transactions through the </a:t>
            </a:r>
            <a:r>
              <a:rPr lang="en-US" sz="4100" b="1" dirty="0" err="1">
                <a:solidFill>
                  <a:srgbClr val="333C4A"/>
                </a:solidFill>
                <a:latin typeface="Libre Baskerville Bold"/>
                <a:ea typeface="Libre Baskerville Bold"/>
                <a:cs typeface="Libre Baskerville Bold"/>
                <a:sym typeface="Libre Baskerville Bold"/>
              </a:rPr>
              <a:t>Xendit</a:t>
            </a:r>
            <a:r>
              <a:rPr lang="en-US" sz="4100" b="1" dirty="0">
                <a:solidFill>
                  <a:srgbClr val="333C4A"/>
                </a:solidFill>
                <a:latin typeface="Libre Baskerville Bold"/>
                <a:ea typeface="Libre Baskerville Bold"/>
                <a:cs typeface="Libre Baskerville Bold"/>
                <a:sym typeface="Libre Baskerville Bold"/>
              </a:rPr>
              <a:t> API.</a:t>
            </a:r>
          </a:p>
          <a:p>
            <a:pPr algn="l">
              <a:lnSpc>
                <a:spcPts val="5740"/>
              </a:lnSpc>
            </a:pPr>
            <a:r>
              <a:rPr lang="en-US" sz="4100" b="1" dirty="0">
                <a:solidFill>
                  <a:srgbClr val="333C4A"/>
                </a:solidFill>
                <a:latin typeface="Libre Baskerville Bold"/>
                <a:ea typeface="Libre Baskerville Bold"/>
                <a:cs typeface="Libre Baskerville Bold"/>
                <a:sym typeface="Libre Baskerville Bold"/>
              </a:rPr>
              <a:t> </a:t>
            </a:r>
          </a:p>
          <a:p>
            <a:pPr marL="885194" lvl="1" indent="-442597" algn="l">
              <a:lnSpc>
                <a:spcPts val="5740"/>
              </a:lnSpc>
              <a:buFont typeface="Arial"/>
              <a:buChar char="•"/>
            </a:pPr>
            <a:r>
              <a:rPr lang="en-US" sz="4100" b="1" dirty="0">
                <a:solidFill>
                  <a:srgbClr val="333C4A"/>
                </a:solidFill>
                <a:latin typeface="Libre Baskerville Bold"/>
                <a:ea typeface="Libre Baskerville Bold"/>
                <a:cs typeface="Libre Baskerville Bold"/>
                <a:sym typeface="Libre Baskerville Bold"/>
              </a:rPr>
              <a:t>The respondents consist of random students, faculty, and library staff of SKSU–</a:t>
            </a:r>
            <a:r>
              <a:rPr lang="en-US" sz="4100" b="1" dirty="0" err="1">
                <a:solidFill>
                  <a:srgbClr val="333C4A"/>
                </a:solidFill>
                <a:latin typeface="Libre Baskerville Bold"/>
                <a:ea typeface="Libre Baskerville Bold"/>
                <a:cs typeface="Libre Baskerville Bold"/>
                <a:sym typeface="Libre Baskerville Bold"/>
              </a:rPr>
              <a:t>Isulan</a:t>
            </a:r>
            <a:r>
              <a:rPr lang="en-US" sz="4100" b="1" dirty="0">
                <a:solidFill>
                  <a:srgbClr val="333C4A"/>
                </a:solidFill>
                <a:latin typeface="Libre Baskerville Bold"/>
                <a:ea typeface="Libre Baskerville Bold"/>
                <a:cs typeface="Libre Baskerville Bold"/>
                <a:sym typeface="Libre Baskerville Bold"/>
              </a:rPr>
              <a:t> Campus who participated in testing and providing feedback. </a:t>
            </a:r>
          </a:p>
        </p:txBody>
      </p:sp>
      <p:sp>
        <p:nvSpPr>
          <p:cNvPr id="6" name="Freeform 6"/>
          <p:cNvSpPr/>
          <p:nvPr/>
        </p:nvSpPr>
        <p:spPr>
          <a:xfrm>
            <a:off x="-902108" y="8310183"/>
            <a:ext cx="2907154" cy="3005517"/>
          </a:xfrm>
          <a:custGeom>
            <a:avLst/>
            <a:gdLst/>
            <a:ahLst/>
            <a:cxnLst/>
            <a:rect l="l" t="t" r="r" b="b"/>
            <a:pathLst>
              <a:path w="2907154" h="3005517">
                <a:moveTo>
                  <a:pt x="0" y="0"/>
                </a:moveTo>
                <a:lnTo>
                  <a:pt x="2907155" y="0"/>
                </a:lnTo>
                <a:lnTo>
                  <a:pt x="2907155" y="3005517"/>
                </a:lnTo>
                <a:lnTo>
                  <a:pt x="0" y="30055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TextBox 2"/>
          <p:cNvSpPr txBox="1"/>
          <p:nvPr/>
        </p:nvSpPr>
        <p:spPr>
          <a:xfrm>
            <a:off x="1028700" y="2837603"/>
            <a:ext cx="6647934" cy="6989734"/>
          </a:xfrm>
          <a:prstGeom prst="rect">
            <a:avLst/>
          </a:prstGeom>
        </p:spPr>
        <p:txBody>
          <a:bodyPr lIns="0" tIns="0" rIns="0" bIns="0" rtlCol="0" anchor="t">
            <a:spAutoFit/>
          </a:bodyPr>
          <a:lstStyle/>
          <a:p>
            <a:pPr marL="933959" lvl="1" indent="-466980" algn="l">
              <a:lnSpc>
                <a:spcPts val="6056"/>
              </a:lnSpc>
              <a:buFont typeface="Arial"/>
              <a:buChar char="•"/>
            </a:pPr>
            <a:r>
              <a:rPr lang="en-US" sz="4325" dirty="0">
                <a:solidFill>
                  <a:srgbClr val="333C4A"/>
                </a:solidFill>
                <a:latin typeface="Libre Baskerville"/>
                <a:ea typeface="Libre Baskerville"/>
                <a:cs typeface="Libre Baskerville"/>
                <a:sym typeface="Libre Baskerville"/>
              </a:rPr>
              <a:t>Administrator</a:t>
            </a:r>
          </a:p>
          <a:p>
            <a:pPr marL="933959" lvl="1" indent="-466980" algn="l">
              <a:lnSpc>
                <a:spcPts val="6056"/>
              </a:lnSpc>
              <a:buFont typeface="Arial"/>
              <a:buChar char="•"/>
            </a:pPr>
            <a:r>
              <a:rPr lang="en-US" sz="4325" dirty="0">
                <a:solidFill>
                  <a:srgbClr val="333C4A"/>
                </a:solidFill>
                <a:latin typeface="Libre Baskerville"/>
                <a:ea typeface="Libre Baskerville"/>
                <a:cs typeface="Libre Baskerville"/>
                <a:sym typeface="Libre Baskerville"/>
              </a:rPr>
              <a:t>Cashless Payment </a:t>
            </a:r>
          </a:p>
          <a:p>
            <a:pPr marL="933959" lvl="1" indent="-466980" algn="l">
              <a:lnSpc>
                <a:spcPts val="6056"/>
              </a:lnSpc>
              <a:buFont typeface="Arial"/>
              <a:buChar char="•"/>
            </a:pPr>
            <a:r>
              <a:rPr lang="en-US" sz="4325" dirty="0">
                <a:solidFill>
                  <a:srgbClr val="333C4A"/>
                </a:solidFill>
                <a:latin typeface="Libre Baskerville"/>
                <a:ea typeface="Libre Baskerville"/>
                <a:cs typeface="Libre Baskerville"/>
                <a:sym typeface="Libre Baskerville"/>
              </a:rPr>
              <a:t>Database</a:t>
            </a:r>
          </a:p>
          <a:p>
            <a:pPr marL="933959" lvl="1" indent="-466980" algn="l">
              <a:lnSpc>
                <a:spcPts val="6056"/>
              </a:lnSpc>
              <a:buFont typeface="Arial"/>
              <a:buChar char="•"/>
            </a:pPr>
            <a:r>
              <a:rPr lang="en-US" sz="4325" dirty="0">
                <a:solidFill>
                  <a:srgbClr val="333C4A"/>
                </a:solidFill>
                <a:latin typeface="Libre Baskerville"/>
                <a:ea typeface="Libre Baskerville"/>
                <a:cs typeface="Libre Baskerville"/>
                <a:sym typeface="Libre Baskerville"/>
              </a:rPr>
              <a:t>Functionality </a:t>
            </a:r>
          </a:p>
          <a:p>
            <a:pPr marL="933959" lvl="1" indent="-466980" algn="l">
              <a:lnSpc>
                <a:spcPts val="6056"/>
              </a:lnSpc>
              <a:buFont typeface="Arial"/>
              <a:buChar char="•"/>
            </a:pPr>
            <a:r>
              <a:rPr lang="en-US" sz="4325" dirty="0" err="1">
                <a:solidFill>
                  <a:srgbClr val="333C4A"/>
                </a:solidFill>
                <a:latin typeface="Libre Baskerville"/>
                <a:ea typeface="Libre Baskerville"/>
                <a:cs typeface="Libre Baskerville"/>
                <a:sym typeface="Libre Baskerville"/>
              </a:rPr>
              <a:t>GCash</a:t>
            </a:r>
            <a:r>
              <a:rPr lang="en-US" sz="4325" dirty="0">
                <a:solidFill>
                  <a:srgbClr val="333C4A"/>
                </a:solidFill>
                <a:latin typeface="Libre Baskerville"/>
                <a:ea typeface="Libre Baskerville"/>
                <a:cs typeface="Libre Baskerville"/>
                <a:sym typeface="Libre Baskerville"/>
              </a:rPr>
              <a:t> </a:t>
            </a:r>
          </a:p>
          <a:p>
            <a:pPr marL="933959" lvl="1" indent="-466980" algn="l">
              <a:lnSpc>
                <a:spcPts val="6056"/>
              </a:lnSpc>
              <a:buFont typeface="Arial"/>
              <a:buChar char="•"/>
            </a:pPr>
            <a:r>
              <a:rPr lang="en-US" sz="4325" dirty="0">
                <a:solidFill>
                  <a:srgbClr val="333C4A"/>
                </a:solidFill>
                <a:latin typeface="Libre Baskerville"/>
                <a:ea typeface="Libre Baskerville"/>
                <a:cs typeface="Libre Baskerville"/>
                <a:sym typeface="Libre Baskerville"/>
              </a:rPr>
              <a:t>Xedit API</a:t>
            </a:r>
          </a:p>
          <a:p>
            <a:pPr marL="933959" lvl="1" indent="-466980" algn="l">
              <a:lnSpc>
                <a:spcPts val="6056"/>
              </a:lnSpc>
              <a:buFont typeface="Arial"/>
              <a:buChar char="•"/>
            </a:pPr>
            <a:r>
              <a:rPr lang="en-US" sz="4325" dirty="0">
                <a:solidFill>
                  <a:srgbClr val="333C4A"/>
                </a:solidFill>
                <a:latin typeface="Libre Baskerville"/>
                <a:ea typeface="Libre Baskerville"/>
                <a:cs typeface="Libre Baskerville"/>
                <a:sym typeface="Libre Baskerville"/>
              </a:rPr>
              <a:t>Raspberry Pi 4 </a:t>
            </a:r>
          </a:p>
          <a:p>
            <a:pPr marL="933959" lvl="1" indent="-466980" algn="l">
              <a:lnSpc>
                <a:spcPts val="6056"/>
              </a:lnSpc>
              <a:buFont typeface="Arial"/>
              <a:buChar char="•"/>
            </a:pPr>
            <a:r>
              <a:rPr lang="en-US" sz="4325" dirty="0">
                <a:solidFill>
                  <a:srgbClr val="333C4A"/>
                </a:solidFill>
                <a:latin typeface="Libre Baskerville"/>
                <a:ea typeface="Libre Baskerville"/>
                <a:cs typeface="Libre Baskerville"/>
                <a:sym typeface="Libre Baskerville"/>
              </a:rPr>
              <a:t>Reliability </a:t>
            </a:r>
          </a:p>
          <a:p>
            <a:pPr marL="933959" lvl="1" indent="-466980" algn="l">
              <a:lnSpc>
                <a:spcPts val="6056"/>
              </a:lnSpc>
              <a:buFont typeface="Arial"/>
              <a:buChar char="•"/>
            </a:pPr>
            <a:endParaRPr lang="en-US" sz="4325" dirty="0">
              <a:solidFill>
                <a:srgbClr val="333C4A"/>
              </a:solidFill>
              <a:latin typeface="Libre Baskerville"/>
              <a:ea typeface="Libre Baskerville"/>
              <a:cs typeface="Libre Baskerville"/>
              <a:sym typeface="Libre Baskerville"/>
            </a:endParaRPr>
          </a:p>
        </p:txBody>
      </p:sp>
      <p:sp>
        <p:nvSpPr>
          <p:cNvPr id="3" name="Freeform 3"/>
          <p:cNvSpPr/>
          <p:nvPr/>
        </p:nvSpPr>
        <p:spPr>
          <a:xfrm flipH="1">
            <a:off x="12886579" y="0"/>
            <a:ext cx="5401421" cy="2993833"/>
          </a:xfrm>
          <a:custGeom>
            <a:avLst/>
            <a:gdLst/>
            <a:ahLst/>
            <a:cxnLst/>
            <a:rect l="l" t="t" r="r" b="b"/>
            <a:pathLst>
              <a:path w="5401421" h="2993833">
                <a:moveTo>
                  <a:pt x="5401421" y="0"/>
                </a:moveTo>
                <a:lnTo>
                  <a:pt x="0" y="0"/>
                </a:lnTo>
                <a:lnTo>
                  <a:pt x="0" y="2993833"/>
                </a:lnTo>
                <a:lnTo>
                  <a:pt x="5401421" y="2993833"/>
                </a:lnTo>
                <a:lnTo>
                  <a:pt x="5401421"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279423" y="-2617884"/>
            <a:ext cx="3980134" cy="4114800"/>
          </a:xfrm>
          <a:custGeom>
            <a:avLst/>
            <a:gdLst/>
            <a:ahLst/>
            <a:cxnLst/>
            <a:rect l="l" t="t" r="r" b="b"/>
            <a:pathLst>
              <a:path w="3980134" h="4114800">
                <a:moveTo>
                  <a:pt x="0" y="4114800"/>
                </a:moveTo>
                <a:lnTo>
                  <a:pt x="3980133" y="4114800"/>
                </a:lnTo>
                <a:lnTo>
                  <a:pt x="3980133"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5507358" y="8790084"/>
            <a:ext cx="3980134" cy="4114800"/>
          </a:xfrm>
          <a:custGeom>
            <a:avLst/>
            <a:gdLst/>
            <a:ahLst/>
            <a:cxnLst/>
            <a:rect l="l" t="t" r="r" b="b"/>
            <a:pathLst>
              <a:path w="3980134" h="4114800">
                <a:moveTo>
                  <a:pt x="3980134" y="0"/>
                </a:moveTo>
                <a:lnTo>
                  <a:pt x="0" y="0"/>
                </a:lnTo>
                <a:lnTo>
                  <a:pt x="0" y="4114800"/>
                </a:lnTo>
                <a:lnTo>
                  <a:pt x="3980134" y="4114800"/>
                </a:lnTo>
                <a:lnTo>
                  <a:pt x="3980134"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8008669" y="2837603"/>
            <a:ext cx="9649868" cy="4642938"/>
          </a:xfrm>
          <a:prstGeom prst="rect">
            <a:avLst/>
          </a:prstGeom>
        </p:spPr>
        <p:txBody>
          <a:bodyPr lIns="0" tIns="0" rIns="0" bIns="0" rtlCol="0" anchor="t">
            <a:spAutoFit/>
          </a:bodyPr>
          <a:lstStyle/>
          <a:p>
            <a:pPr marL="933959" lvl="1" indent="-466980" algn="l">
              <a:lnSpc>
                <a:spcPts val="6056"/>
              </a:lnSpc>
              <a:buFont typeface="Arial"/>
              <a:buChar char="•"/>
            </a:pPr>
            <a:r>
              <a:rPr lang="en-US" sz="4325" dirty="0">
                <a:solidFill>
                  <a:srgbClr val="333C4A"/>
                </a:solidFill>
                <a:latin typeface="Libre Baskerville"/>
                <a:ea typeface="Libre Baskerville"/>
                <a:cs typeface="Libre Baskerville"/>
                <a:sym typeface="Libre Baskerville"/>
              </a:rPr>
              <a:t>Self-Service </a:t>
            </a:r>
          </a:p>
          <a:p>
            <a:pPr marL="933959" lvl="1" indent="-466980" algn="l">
              <a:lnSpc>
                <a:spcPts val="6056"/>
              </a:lnSpc>
              <a:buFont typeface="Arial"/>
              <a:buChar char="•"/>
            </a:pPr>
            <a:r>
              <a:rPr lang="en-US" sz="4325" dirty="0">
                <a:solidFill>
                  <a:srgbClr val="333C4A"/>
                </a:solidFill>
                <a:latin typeface="Libre Baskerville"/>
                <a:ea typeface="Libre Baskerville"/>
                <a:cs typeface="Libre Baskerville"/>
                <a:sym typeface="Libre Baskerville"/>
              </a:rPr>
              <a:t>Printing Kiosk </a:t>
            </a:r>
          </a:p>
          <a:p>
            <a:pPr marL="933959" lvl="1" indent="-466980" algn="l">
              <a:lnSpc>
                <a:spcPts val="6056"/>
              </a:lnSpc>
              <a:buFont typeface="Arial"/>
              <a:buChar char="•"/>
            </a:pPr>
            <a:r>
              <a:rPr lang="en-US" sz="4325" dirty="0">
                <a:solidFill>
                  <a:srgbClr val="333C4A"/>
                </a:solidFill>
                <a:latin typeface="Libre Baskerville"/>
                <a:ea typeface="Libre Baskerville"/>
                <a:cs typeface="Libre Baskerville"/>
                <a:sym typeface="Libre Baskerville"/>
              </a:rPr>
              <a:t>SKSU-</a:t>
            </a:r>
            <a:r>
              <a:rPr lang="en-US" sz="4325" dirty="0" err="1">
                <a:solidFill>
                  <a:srgbClr val="333C4A"/>
                </a:solidFill>
                <a:latin typeface="Libre Baskerville"/>
                <a:ea typeface="Libre Baskerville"/>
                <a:cs typeface="Libre Baskerville"/>
                <a:sym typeface="Libre Baskerville"/>
              </a:rPr>
              <a:t>Isulan</a:t>
            </a:r>
            <a:r>
              <a:rPr lang="en-US" sz="4325" dirty="0">
                <a:solidFill>
                  <a:srgbClr val="333C4A"/>
                </a:solidFill>
                <a:latin typeface="Libre Baskerville"/>
                <a:ea typeface="Libre Baskerville"/>
                <a:cs typeface="Libre Baskerville"/>
                <a:sym typeface="Libre Baskerville"/>
              </a:rPr>
              <a:t> Library System Interface </a:t>
            </a:r>
          </a:p>
          <a:p>
            <a:pPr marL="933959" lvl="1" indent="-466980" algn="l">
              <a:lnSpc>
                <a:spcPts val="6056"/>
              </a:lnSpc>
              <a:buFont typeface="Arial"/>
              <a:buChar char="•"/>
            </a:pPr>
            <a:r>
              <a:rPr lang="en-US" sz="4325" dirty="0">
                <a:solidFill>
                  <a:srgbClr val="333C4A"/>
                </a:solidFill>
                <a:latin typeface="Libre Baskerville"/>
                <a:ea typeface="Libre Baskerville"/>
                <a:cs typeface="Libre Baskerville"/>
                <a:sym typeface="Libre Baskerville"/>
              </a:rPr>
              <a:t>User Convenience</a:t>
            </a:r>
          </a:p>
          <a:p>
            <a:pPr marL="933959" lvl="1" indent="-466980" algn="l">
              <a:lnSpc>
                <a:spcPts val="6056"/>
              </a:lnSpc>
              <a:buFont typeface="Arial"/>
              <a:buChar char="•"/>
            </a:pPr>
            <a:r>
              <a:rPr lang="en-US" sz="4325" dirty="0">
                <a:solidFill>
                  <a:srgbClr val="333C4A"/>
                </a:solidFill>
                <a:latin typeface="Libre Baskerville"/>
                <a:ea typeface="Libre Baskerville"/>
                <a:cs typeface="Libre Baskerville"/>
                <a:sym typeface="Libre Baskerville"/>
              </a:rPr>
              <a:t>Data Analytics </a:t>
            </a:r>
          </a:p>
        </p:txBody>
      </p:sp>
      <p:sp>
        <p:nvSpPr>
          <p:cNvPr id="7" name="TextBox 7"/>
          <p:cNvSpPr txBox="1"/>
          <p:nvPr/>
        </p:nvSpPr>
        <p:spPr>
          <a:xfrm>
            <a:off x="2041621" y="267562"/>
            <a:ext cx="11270026" cy="2334883"/>
          </a:xfrm>
          <a:prstGeom prst="rect">
            <a:avLst/>
          </a:prstGeom>
        </p:spPr>
        <p:txBody>
          <a:bodyPr lIns="0" tIns="0" rIns="0" bIns="0" rtlCol="0" anchor="t">
            <a:spAutoFit/>
          </a:bodyPr>
          <a:lstStyle/>
          <a:p>
            <a:pPr algn="ctr">
              <a:lnSpc>
                <a:spcPts val="9380"/>
              </a:lnSpc>
              <a:spcBef>
                <a:spcPct val="0"/>
              </a:spcBef>
            </a:pPr>
            <a:r>
              <a:rPr lang="en-US" sz="6700" b="1">
                <a:solidFill>
                  <a:srgbClr val="333C4A"/>
                </a:solidFill>
                <a:latin typeface="DM Sans Bold"/>
                <a:ea typeface="DM Sans Bold"/>
                <a:cs typeface="DM Sans Bold"/>
                <a:sym typeface="DM Sans Bold"/>
              </a:rPr>
              <a:t>Operational Definition of Terms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0" y="7293167"/>
            <a:ext cx="5401421" cy="2993833"/>
          </a:xfrm>
          <a:custGeom>
            <a:avLst/>
            <a:gdLst/>
            <a:ahLst/>
            <a:cxnLst/>
            <a:rect l="l" t="t" r="r" b="b"/>
            <a:pathLst>
              <a:path w="5401421" h="2993833">
                <a:moveTo>
                  <a:pt x="0" y="2993833"/>
                </a:moveTo>
                <a:lnTo>
                  <a:pt x="5401421" y="2993833"/>
                </a:lnTo>
                <a:lnTo>
                  <a:pt x="5401421" y="0"/>
                </a:lnTo>
                <a:lnTo>
                  <a:pt x="0" y="0"/>
                </a:lnTo>
                <a:lnTo>
                  <a:pt x="0" y="29938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12886579" y="0"/>
            <a:ext cx="5401421" cy="2993833"/>
          </a:xfrm>
          <a:custGeom>
            <a:avLst/>
            <a:gdLst/>
            <a:ahLst/>
            <a:cxnLst/>
            <a:rect l="l" t="t" r="r" b="b"/>
            <a:pathLst>
              <a:path w="5401421" h="2993833">
                <a:moveTo>
                  <a:pt x="5401421" y="0"/>
                </a:moveTo>
                <a:lnTo>
                  <a:pt x="0" y="0"/>
                </a:lnTo>
                <a:lnTo>
                  <a:pt x="0" y="2993833"/>
                </a:lnTo>
                <a:lnTo>
                  <a:pt x="5401421" y="2993833"/>
                </a:lnTo>
                <a:lnTo>
                  <a:pt x="5401421"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279423" y="-2617884"/>
            <a:ext cx="3980134" cy="4114800"/>
          </a:xfrm>
          <a:custGeom>
            <a:avLst/>
            <a:gdLst/>
            <a:ahLst/>
            <a:cxnLst/>
            <a:rect l="l" t="t" r="r" b="b"/>
            <a:pathLst>
              <a:path w="3980134" h="4114800">
                <a:moveTo>
                  <a:pt x="0" y="4114800"/>
                </a:moveTo>
                <a:lnTo>
                  <a:pt x="3980133" y="4114800"/>
                </a:lnTo>
                <a:lnTo>
                  <a:pt x="3980133"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5507358" y="8790084"/>
            <a:ext cx="3980134" cy="4114800"/>
          </a:xfrm>
          <a:custGeom>
            <a:avLst/>
            <a:gdLst/>
            <a:ahLst/>
            <a:cxnLst/>
            <a:rect l="l" t="t" r="r" b="b"/>
            <a:pathLst>
              <a:path w="3980134" h="4114800">
                <a:moveTo>
                  <a:pt x="3980134" y="0"/>
                </a:moveTo>
                <a:lnTo>
                  <a:pt x="0" y="0"/>
                </a:lnTo>
                <a:lnTo>
                  <a:pt x="0" y="4114800"/>
                </a:lnTo>
                <a:lnTo>
                  <a:pt x="3980134" y="4114800"/>
                </a:lnTo>
                <a:lnTo>
                  <a:pt x="3980134"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203832" y="3125355"/>
            <a:ext cx="18695664" cy="4351649"/>
          </a:xfrm>
          <a:prstGeom prst="rect">
            <a:avLst/>
          </a:prstGeom>
        </p:spPr>
        <p:txBody>
          <a:bodyPr lIns="0" tIns="0" rIns="0" bIns="0" rtlCol="0" anchor="t">
            <a:spAutoFit/>
          </a:bodyPr>
          <a:lstStyle/>
          <a:p>
            <a:pPr algn="ctr">
              <a:lnSpc>
                <a:spcPts val="11620"/>
              </a:lnSpc>
            </a:pPr>
            <a:r>
              <a:rPr lang="en-US" sz="8300" b="1">
                <a:solidFill>
                  <a:srgbClr val="333C4A"/>
                </a:solidFill>
                <a:latin typeface="DM Sans Bold"/>
                <a:ea typeface="DM Sans Bold"/>
                <a:cs typeface="DM Sans Bold"/>
                <a:sym typeface="DM Sans Bold"/>
              </a:rPr>
              <a:t>REVIEW OF RELATED LITERATURE</a:t>
            </a:r>
          </a:p>
          <a:p>
            <a:pPr algn="ctr">
              <a:lnSpc>
                <a:spcPts val="11620"/>
              </a:lnSpc>
            </a:pPr>
            <a:r>
              <a:rPr lang="en-US" sz="8300" b="1">
                <a:solidFill>
                  <a:srgbClr val="333C4A"/>
                </a:solidFill>
                <a:latin typeface="DM Sans Bold"/>
                <a:ea typeface="DM Sans Bold"/>
                <a:cs typeface="DM Sans Bold"/>
                <a:sym typeface="DM Sans Bold"/>
              </a:rPr>
              <a:t>CHAPTER II</a:t>
            </a:r>
          </a:p>
          <a:p>
            <a:pPr algn="ctr">
              <a:lnSpc>
                <a:spcPts val="11620"/>
              </a:lnSpc>
            </a:pPr>
            <a:endParaRPr lang="en-US" sz="8300" b="1">
              <a:solidFill>
                <a:srgbClr val="333C4A"/>
              </a:solidFill>
              <a:latin typeface="DM Sans Bold"/>
              <a:ea typeface="DM Sans Bold"/>
              <a:cs typeface="DM Sans Bold"/>
              <a:sym typeface="DM Sans Bo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3088563" y="159703"/>
            <a:ext cx="13094495" cy="1566544"/>
          </a:xfrm>
          <a:prstGeom prst="rect">
            <a:avLst/>
          </a:prstGeom>
        </p:spPr>
        <p:txBody>
          <a:bodyPr lIns="0" tIns="0" rIns="0" bIns="0" rtlCol="0" anchor="t">
            <a:spAutoFit/>
          </a:bodyPr>
          <a:lstStyle/>
          <a:p>
            <a:pPr algn="ctr">
              <a:lnSpc>
                <a:spcPts val="12880"/>
              </a:lnSpc>
            </a:pPr>
            <a:r>
              <a:rPr lang="en-US" sz="9200" b="1">
                <a:solidFill>
                  <a:srgbClr val="333C4A"/>
                </a:solidFill>
                <a:latin typeface="DM Sans Bold"/>
                <a:ea typeface="DM Sans Bold"/>
                <a:cs typeface="DM Sans Bold"/>
                <a:sym typeface="DM Sans Bold"/>
              </a:rPr>
              <a:t>RELATED LITERATURE</a:t>
            </a:r>
          </a:p>
        </p:txBody>
      </p:sp>
      <p:sp>
        <p:nvSpPr>
          <p:cNvPr id="6" name="TextBox 6"/>
          <p:cNvSpPr txBox="1"/>
          <p:nvPr/>
        </p:nvSpPr>
        <p:spPr>
          <a:xfrm>
            <a:off x="2335576" y="2681605"/>
            <a:ext cx="13140931" cy="6731138"/>
          </a:xfrm>
          <a:prstGeom prst="rect">
            <a:avLst/>
          </a:prstGeom>
        </p:spPr>
        <p:txBody>
          <a:bodyPr lIns="0" tIns="0" rIns="0" bIns="0" rtlCol="0" anchor="t">
            <a:spAutoFit/>
          </a:bodyPr>
          <a:lstStyle/>
          <a:p>
            <a:pPr marL="734068" lvl="1" indent="-367034" algn="l">
              <a:lnSpc>
                <a:spcPts val="4760"/>
              </a:lnSpc>
              <a:buFont typeface="Arial"/>
              <a:buChar char="•"/>
            </a:pPr>
            <a:r>
              <a:rPr lang="en-US" sz="3400" dirty="0">
                <a:solidFill>
                  <a:srgbClr val="333C4A"/>
                </a:solidFill>
                <a:latin typeface="Libre Baskerville"/>
                <a:ea typeface="Libre Baskerville"/>
                <a:cs typeface="Libre Baskerville"/>
                <a:sym typeface="Libre Baskerville"/>
              </a:rPr>
              <a:t>Raspberry Pi</a:t>
            </a:r>
          </a:p>
          <a:p>
            <a:pPr marL="734068" lvl="1" indent="-367034" algn="l">
              <a:lnSpc>
                <a:spcPts val="4760"/>
              </a:lnSpc>
              <a:buFont typeface="Arial"/>
              <a:buChar char="•"/>
            </a:pPr>
            <a:r>
              <a:rPr lang="en-US" sz="3400" dirty="0">
                <a:solidFill>
                  <a:srgbClr val="333C4A"/>
                </a:solidFill>
                <a:latin typeface="Libre Baskerville"/>
                <a:ea typeface="Libre Baskerville"/>
                <a:cs typeface="Libre Baskerville"/>
                <a:sym typeface="Libre Baskerville"/>
              </a:rPr>
              <a:t>Inkjet Printer</a:t>
            </a:r>
          </a:p>
          <a:p>
            <a:pPr marL="734068" lvl="1" indent="-367034" algn="l">
              <a:lnSpc>
                <a:spcPts val="4760"/>
              </a:lnSpc>
              <a:buFont typeface="Arial"/>
              <a:buChar char="•"/>
            </a:pPr>
            <a:r>
              <a:rPr lang="en-US" sz="3400" dirty="0">
                <a:solidFill>
                  <a:srgbClr val="333C4A"/>
                </a:solidFill>
                <a:latin typeface="Libre Baskerville"/>
                <a:ea typeface="Libre Baskerville"/>
                <a:cs typeface="Libre Baskerville"/>
                <a:sym typeface="Libre Baskerville"/>
              </a:rPr>
              <a:t>Touch Screen Display</a:t>
            </a:r>
          </a:p>
          <a:p>
            <a:pPr marL="734068" lvl="1" indent="-367034" algn="l">
              <a:lnSpc>
                <a:spcPts val="4760"/>
              </a:lnSpc>
              <a:buFont typeface="Arial"/>
              <a:buChar char="•"/>
            </a:pPr>
            <a:r>
              <a:rPr lang="en-US" sz="3400" dirty="0">
                <a:solidFill>
                  <a:srgbClr val="333C4A"/>
                </a:solidFill>
                <a:latin typeface="Libre Baskerville"/>
                <a:ea typeface="Libre Baskerville"/>
                <a:cs typeface="Libre Baskerville"/>
                <a:sym typeface="Libre Baskerville"/>
              </a:rPr>
              <a:t>Quick Response (QR) Code</a:t>
            </a:r>
          </a:p>
          <a:p>
            <a:pPr marL="734068" lvl="1" indent="-367034" algn="l">
              <a:lnSpc>
                <a:spcPts val="4760"/>
              </a:lnSpc>
              <a:buFont typeface="Arial"/>
              <a:buChar char="•"/>
            </a:pPr>
            <a:r>
              <a:rPr lang="en-US" sz="3400" dirty="0">
                <a:solidFill>
                  <a:srgbClr val="333C4A"/>
                </a:solidFill>
                <a:latin typeface="Libre Baskerville"/>
                <a:ea typeface="Libre Baskerville"/>
                <a:cs typeface="Libre Baskerville"/>
                <a:sym typeface="Libre Baskerville"/>
              </a:rPr>
              <a:t>Common Unix Printing System (CUPS)</a:t>
            </a:r>
          </a:p>
          <a:p>
            <a:pPr marL="734068" lvl="1" indent="-367034" algn="l">
              <a:lnSpc>
                <a:spcPts val="4760"/>
              </a:lnSpc>
              <a:buFont typeface="Arial"/>
              <a:buChar char="•"/>
            </a:pPr>
            <a:r>
              <a:rPr lang="en-US" sz="3400" dirty="0" err="1">
                <a:solidFill>
                  <a:srgbClr val="333C4A"/>
                </a:solidFill>
                <a:latin typeface="Libre Baskerville"/>
                <a:ea typeface="Libre Baskerville"/>
                <a:cs typeface="Libre Baskerville"/>
                <a:sym typeface="Libre Baskerville"/>
              </a:rPr>
              <a:t>Xendit</a:t>
            </a:r>
            <a:endParaRPr lang="en-US" sz="3400" dirty="0">
              <a:solidFill>
                <a:srgbClr val="333C4A"/>
              </a:solidFill>
              <a:latin typeface="Libre Baskerville"/>
              <a:ea typeface="Libre Baskerville"/>
              <a:cs typeface="Libre Baskerville"/>
              <a:sym typeface="Libre Baskerville"/>
            </a:endParaRPr>
          </a:p>
          <a:p>
            <a:pPr marL="734068" lvl="1" indent="-367034" algn="l">
              <a:lnSpc>
                <a:spcPts val="4760"/>
              </a:lnSpc>
              <a:buFont typeface="Arial"/>
              <a:buChar char="•"/>
            </a:pPr>
            <a:r>
              <a:rPr lang="en-US" sz="3400" dirty="0" err="1">
                <a:solidFill>
                  <a:srgbClr val="333C4A"/>
                </a:solidFill>
                <a:latin typeface="Libre Baskerville"/>
                <a:ea typeface="Libre Baskerville"/>
                <a:cs typeface="Libre Baskerville"/>
                <a:sym typeface="Libre Baskerville"/>
              </a:rPr>
              <a:t>Gcash</a:t>
            </a:r>
            <a:endParaRPr lang="en-US" sz="3400" dirty="0">
              <a:solidFill>
                <a:srgbClr val="333C4A"/>
              </a:solidFill>
              <a:latin typeface="Libre Baskerville"/>
              <a:ea typeface="Libre Baskerville"/>
              <a:cs typeface="Libre Baskerville"/>
              <a:sym typeface="Libre Baskerville"/>
            </a:endParaRPr>
          </a:p>
          <a:p>
            <a:pPr marL="734068" lvl="1" indent="-367034" algn="l">
              <a:lnSpc>
                <a:spcPts val="4760"/>
              </a:lnSpc>
              <a:buFont typeface="Arial"/>
              <a:buChar char="•"/>
            </a:pPr>
            <a:r>
              <a:rPr lang="en-US" sz="3400" dirty="0">
                <a:solidFill>
                  <a:srgbClr val="333C4A"/>
                </a:solidFill>
                <a:latin typeface="Libre Baskerville"/>
                <a:ea typeface="Libre Baskerville"/>
                <a:cs typeface="Libre Baskerville"/>
                <a:sym typeface="Libre Baskerville"/>
              </a:rPr>
              <a:t>Self Service Technology</a:t>
            </a:r>
          </a:p>
          <a:p>
            <a:pPr marL="734068" lvl="1" indent="-367034" algn="l">
              <a:lnSpc>
                <a:spcPts val="4760"/>
              </a:lnSpc>
              <a:buFont typeface="Arial"/>
              <a:buChar char="•"/>
            </a:pPr>
            <a:r>
              <a:rPr lang="en-US" sz="3400" dirty="0">
                <a:solidFill>
                  <a:srgbClr val="333C4A"/>
                </a:solidFill>
                <a:latin typeface="Libre Baskerville"/>
                <a:ea typeface="Libre Baskerville"/>
                <a:cs typeface="Libre Baskerville"/>
                <a:sym typeface="Libre Baskerville"/>
              </a:rPr>
              <a:t>Kiosk</a:t>
            </a:r>
          </a:p>
          <a:p>
            <a:pPr marL="734068" lvl="1" indent="-367034" algn="l">
              <a:lnSpc>
                <a:spcPts val="4760"/>
              </a:lnSpc>
              <a:buFont typeface="Arial"/>
              <a:buChar char="•"/>
            </a:pPr>
            <a:r>
              <a:rPr lang="en-US" sz="3400" dirty="0">
                <a:solidFill>
                  <a:srgbClr val="333C4A"/>
                </a:solidFill>
                <a:latin typeface="Libre Baskerville"/>
                <a:ea typeface="Libre Baskerville"/>
                <a:cs typeface="Libre Baskerville"/>
                <a:sym typeface="Libre Baskerville"/>
              </a:rPr>
              <a:t>Cashless Payment</a:t>
            </a:r>
          </a:p>
          <a:p>
            <a:pPr algn="l">
              <a:lnSpc>
                <a:spcPts val="4760"/>
              </a:lnSpc>
            </a:pPr>
            <a:endParaRPr lang="en-US" sz="3400" dirty="0">
              <a:solidFill>
                <a:srgbClr val="333C4A"/>
              </a:solidFill>
              <a:latin typeface="Libre Baskerville"/>
              <a:ea typeface="Libre Baskerville"/>
              <a:cs typeface="Libre Baskerville"/>
              <a:sym typeface="Libre Baskerville"/>
            </a:endParaRPr>
          </a:p>
        </p:txBody>
      </p:sp>
      <p:sp>
        <p:nvSpPr>
          <p:cNvPr id="7" name="Freeform 7"/>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a:extLst>
            <a:ext uri="{FF2B5EF4-FFF2-40B4-BE49-F238E27FC236}">
              <a16:creationId xmlns:a16="http://schemas.microsoft.com/office/drawing/2014/main" id="{0A0D788E-ACFF-97A4-CF08-4D00F30A4F3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7AA9403-97DD-CAC2-2280-AA5542F1221A}"/>
              </a:ext>
            </a:extLst>
          </p:cNvPr>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4D4B7E9B-5AEC-BE79-D1EE-4C280DB2E882}"/>
              </a:ext>
            </a:extLst>
          </p:cNvPr>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53AA25A4-7B5E-EB3C-0724-0121D1ECCB5F}"/>
              </a:ext>
            </a:extLst>
          </p:cNvPr>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a:extLst>
              <a:ext uri="{FF2B5EF4-FFF2-40B4-BE49-F238E27FC236}">
                <a16:creationId xmlns:a16="http://schemas.microsoft.com/office/drawing/2014/main" id="{108E099A-0FD0-F8E4-5C50-BD2DB72B7D9D}"/>
              </a:ext>
            </a:extLst>
          </p:cNvPr>
          <p:cNvSpPr txBox="1"/>
          <p:nvPr/>
        </p:nvSpPr>
        <p:spPr>
          <a:xfrm>
            <a:off x="3088563" y="159703"/>
            <a:ext cx="13094495" cy="1566544"/>
          </a:xfrm>
          <a:prstGeom prst="rect">
            <a:avLst/>
          </a:prstGeom>
        </p:spPr>
        <p:txBody>
          <a:bodyPr lIns="0" tIns="0" rIns="0" bIns="0" rtlCol="0" anchor="t">
            <a:spAutoFit/>
          </a:bodyPr>
          <a:lstStyle/>
          <a:p>
            <a:pPr algn="ctr">
              <a:lnSpc>
                <a:spcPts val="12880"/>
              </a:lnSpc>
            </a:pPr>
            <a:r>
              <a:rPr lang="en-US" sz="9200" b="1" dirty="0">
                <a:solidFill>
                  <a:srgbClr val="333C4A"/>
                </a:solidFill>
                <a:latin typeface="DM Sans Bold"/>
                <a:ea typeface="DM Sans Bold"/>
                <a:cs typeface="DM Sans Bold"/>
                <a:sym typeface="DM Sans Bold"/>
              </a:rPr>
              <a:t>RELATED STUDIES</a:t>
            </a:r>
          </a:p>
        </p:txBody>
      </p:sp>
      <p:sp>
        <p:nvSpPr>
          <p:cNvPr id="6" name="TextBox 6">
            <a:extLst>
              <a:ext uri="{FF2B5EF4-FFF2-40B4-BE49-F238E27FC236}">
                <a16:creationId xmlns:a16="http://schemas.microsoft.com/office/drawing/2014/main" id="{886EE586-1E05-8A61-5633-309EA56D938B}"/>
              </a:ext>
            </a:extLst>
          </p:cNvPr>
          <p:cNvSpPr txBox="1"/>
          <p:nvPr/>
        </p:nvSpPr>
        <p:spPr>
          <a:xfrm>
            <a:off x="2335576" y="2681605"/>
            <a:ext cx="13140931" cy="7346691"/>
          </a:xfrm>
          <a:prstGeom prst="rect">
            <a:avLst/>
          </a:prstGeom>
        </p:spPr>
        <p:txBody>
          <a:bodyPr lIns="0" tIns="0" rIns="0" bIns="0" rtlCol="0" anchor="t">
            <a:spAutoFit/>
          </a:bodyPr>
          <a:lstStyle/>
          <a:p>
            <a:pPr marL="734068" lvl="1" indent="-367034" algn="l">
              <a:lnSpc>
                <a:spcPts val="4760"/>
              </a:lnSpc>
              <a:buFont typeface="Arial"/>
              <a:buChar char="•"/>
            </a:pPr>
            <a:r>
              <a:rPr lang="en-US" sz="3400" dirty="0">
                <a:solidFill>
                  <a:srgbClr val="333C4A"/>
                </a:solidFill>
                <a:latin typeface="Libre Baskerville"/>
                <a:ea typeface="Libre Baskerville"/>
                <a:cs typeface="Libre Baskerville"/>
                <a:sym typeface="Libre Baskerville"/>
              </a:rPr>
              <a:t>Self Service Technology(SST) in Education Institute</a:t>
            </a:r>
          </a:p>
          <a:p>
            <a:pPr marL="734068" lvl="1" indent="-367034" algn="l">
              <a:lnSpc>
                <a:spcPts val="4760"/>
              </a:lnSpc>
              <a:buFont typeface="Arial"/>
              <a:buChar char="•"/>
            </a:pPr>
            <a:r>
              <a:rPr lang="en-US" sz="3400" dirty="0">
                <a:solidFill>
                  <a:srgbClr val="333C4A"/>
                </a:solidFill>
                <a:latin typeface="Libre Baskerville"/>
                <a:ea typeface="Libre Baskerville"/>
                <a:cs typeface="Libre Baskerville"/>
                <a:sym typeface="Libre Baskerville"/>
              </a:rPr>
              <a:t>Cashless Payment and User Acceptance in The Philippines</a:t>
            </a:r>
          </a:p>
          <a:p>
            <a:pPr marL="734068" lvl="1" indent="-367034" algn="l">
              <a:lnSpc>
                <a:spcPts val="4760"/>
              </a:lnSpc>
              <a:buFont typeface="Arial"/>
              <a:buChar char="•"/>
            </a:pPr>
            <a:r>
              <a:rPr lang="en-US" sz="3400" dirty="0">
                <a:solidFill>
                  <a:srgbClr val="333C4A"/>
                </a:solidFill>
                <a:latin typeface="Libre Baskerville"/>
                <a:ea typeface="Libre Baskerville"/>
                <a:cs typeface="Libre Baskerville"/>
                <a:sym typeface="Libre Baskerville"/>
              </a:rPr>
              <a:t>Operational and Institutional Benefits of Cashless Systems</a:t>
            </a:r>
          </a:p>
          <a:p>
            <a:pPr marL="734068" lvl="1" indent="-367034" algn="l">
              <a:lnSpc>
                <a:spcPts val="4760"/>
              </a:lnSpc>
              <a:buFont typeface="Arial"/>
              <a:buChar char="•"/>
            </a:pPr>
            <a:r>
              <a:rPr lang="en-US" sz="3400" dirty="0">
                <a:solidFill>
                  <a:srgbClr val="333C4A"/>
                </a:solidFill>
                <a:latin typeface="Libre Baskerville"/>
                <a:ea typeface="Libre Baskerville"/>
                <a:cs typeface="Libre Baskerville"/>
                <a:sym typeface="Libre Baskerville"/>
              </a:rPr>
              <a:t>Kiosk-Based Automation and System Architecture</a:t>
            </a:r>
          </a:p>
          <a:p>
            <a:pPr marL="734068" lvl="1" indent="-367034" algn="l">
              <a:lnSpc>
                <a:spcPts val="4760"/>
              </a:lnSpc>
              <a:buFont typeface="Arial"/>
              <a:buChar char="•"/>
            </a:pPr>
            <a:r>
              <a:rPr lang="en-US" sz="3400" dirty="0">
                <a:solidFill>
                  <a:srgbClr val="333C4A"/>
                </a:solidFill>
                <a:latin typeface="Libre Baskerville"/>
                <a:ea typeface="Libre Baskerville"/>
                <a:cs typeface="Libre Baskerville"/>
                <a:sym typeface="Libre Baskerville"/>
              </a:rPr>
              <a:t>AI and </a:t>
            </a:r>
            <a:r>
              <a:rPr lang="en-US" sz="3400" dirty="0" err="1">
                <a:solidFill>
                  <a:srgbClr val="333C4A"/>
                </a:solidFill>
                <a:latin typeface="Libre Baskerville"/>
                <a:ea typeface="Libre Baskerville"/>
                <a:cs typeface="Libre Baskerville"/>
                <a:sym typeface="Libre Baskerville"/>
              </a:rPr>
              <a:t>Iot</a:t>
            </a:r>
            <a:r>
              <a:rPr lang="en-US" sz="3400" dirty="0">
                <a:solidFill>
                  <a:srgbClr val="333C4A"/>
                </a:solidFill>
                <a:latin typeface="Libre Baskerville"/>
                <a:ea typeface="Libre Baskerville"/>
                <a:cs typeface="Libre Baskerville"/>
                <a:sym typeface="Libre Baskerville"/>
              </a:rPr>
              <a:t>-Enhancement Self Service Kiosk</a:t>
            </a:r>
          </a:p>
          <a:p>
            <a:pPr marL="734068" lvl="1" indent="-367034" algn="l">
              <a:lnSpc>
                <a:spcPts val="4760"/>
              </a:lnSpc>
              <a:buFont typeface="Arial"/>
              <a:buChar char="•"/>
            </a:pPr>
            <a:r>
              <a:rPr lang="en-US" sz="3400" dirty="0">
                <a:solidFill>
                  <a:srgbClr val="333C4A"/>
                </a:solidFill>
                <a:latin typeface="Libre Baskerville"/>
                <a:ea typeface="Libre Baskerville"/>
                <a:cs typeface="Libre Baskerville"/>
                <a:sym typeface="Libre Baskerville"/>
              </a:rPr>
              <a:t>Cyber Security in Cashless Payments</a:t>
            </a:r>
          </a:p>
          <a:p>
            <a:pPr marL="734068" lvl="1" indent="-367034" algn="l">
              <a:lnSpc>
                <a:spcPts val="4760"/>
              </a:lnSpc>
              <a:buFont typeface="Arial"/>
              <a:buChar char="•"/>
            </a:pPr>
            <a:r>
              <a:rPr lang="en-US" sz="3400" dirty="0">
                <a:solidFill>
                  <a:srgbClr val="333C4A"/>
                </a:solidFill>
                <a:latin typeface="Libre Baskerville"/>
                <a:ea typeface="Libre Baskerville"/>
                <a:cs typeface="Libre Baskerville"/>
                <a:sym typeface="Libre Baskerville"/>
              </a:rPr>
              <a:t>Data Privacy and Protection in Fintech and E-Wallet Services</a:t>
            </a:r>
          </a:p>
          <a:p>
            <a:pPr marL="367034" lvl="1" algn="l">
              <a:lnSpc>
                <a:spcPts val="4760"/>
              </a:lnSpc>
            </a:pPr>
            <a:endParaRPr lang="en-US" sz="3400" dirty="0">
              <a:solidFill>
                <a:srgbClr val="333C4A"/>
              </a:solidFill>
              <a:latin typeface="Libre Baskerville"/>
              <a:ea typeface="Libre Baskerville"/>
              <a:cs typeface="Libre Baskerville"/>
              <a:sym typeface="Libre Baskerville"/>
            </a:endParaRPr>
          </a:p>
          <a:p>
            <a:pPr algn="l">
              <a:lnSpc>
                <a:spcPts val="4760"/>
              </a:lnSpc>
            </a:pPr>
            <a:endParaRPr lang="en-US" sz="3400" dirty="0">
              <a:solidFill>
                <a:srgbClr val="333C4A"/>
              </a:solidFill>
              <a:latin typeface="Libre Baskerville"/>
              <a:ea typeface="Libre Baskerville"/>
              <a:cs typeface="Libre Baskerville"/>
              <a:sym typeface="Libre Baskerville"/>
            </a:endParaRPr>
          </a:p>
        </p:txBody>
      </p:sp>
      <p:sp>
        <p:nvSpPr>
          <p:cNvPr id="7" name="Freeform 7">
            <a:extLst>
              <a:ext uri="{FF2B5EF4-FFF2-40B4-BE49-F238E27FC236}">
                <a16:creationId xmlns:a16="http://schemas.microsoft.com/office/drawing/2014/main" id="{49CB14FF-45F3-AE66-1FBA-93D9F5FBD5A8}"/>
              </a:ext>
            </a:extLst>
          </p:cNvPr>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1215257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a:extLst>
            <a:ext uri="{FF2B5EF4-FFF2-40B4-BE49-F238E27FC236}">
              <a16:creationId xmlns:a16="http://schemas.microsoft.com/office/drawing/2014/main" id="{73B19511-C705-645B-646F-7E1040F2CF5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EBAC903-AAE7-DE92-C751-BBB49982B0F0}"/>
              </a:ext>
            </a:extLst>
          </p:cNvPr>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88FCC6F9-AB7C-98C5-B34C-C4AFD6949067}"/>
              </a:ext>
            </a:extLst>
          </p:cNvPr>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B1D39DF6-5EA6-4C9E-BEF3-8DC9C7B0A82B}"/>
              </a:ext>
            </a:extLst>
          </p:cNvPr>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a:extLst>
              <a:ext uri="{FF2B5EF4-FFF2-40B4-BE49-F238E27FC236}">
                <a16:creationId xmlns:a16="http://schemas.microsoft.com/office/drawing/2014/main" id="{5EF3CC33-5AE9-FD74-A3A2-DCF0E592FEE8}"/>
              </a:ext>
            </a:extLst>
          </p:cNvPr>
          <p:cNvSpPr txBox="1"/>
          <p:nvPr/>
        </p:nvSpPr>
        <p:spPr>
          <a:xfrm>
            <a:off x="3088563" y="159703"/>
            <a:ext cx="13094495" cy="1566544"/>
          </a:xfrm>
          <a:prstGeom prst="rect">
            <a:avLst/>
          </a:prstGeom>
        </p:spPr>
        <p:txBody>
          <a:bodyPr lIns="0" tIns="0" rIns="0" bIns="0" rtlCol="0" anchor="t">
            <a:spAutoFit/>
          </a:bodyPr>
          <a:lstStyle/>
          <a:p>
            <a:pPr algn="ctr">
              <a:lnSpc>
                <a:spcPts val="12880"/>
              </a:lnSpc>
            </a:pPr>
            <a:r>
              <a:rPr lang="en-US" sz="9200" b="1" dirty="0">
                <a:solidFill>
                  <a:srgbClr val="333C4A"/>
                </a:solidFill>
                <a:latin typeface="DM Sans Bold"/>
                <a:ea typeface="DM Sans Bold"/>
                <a:cs typeface="DM Sans Bold"/>
                <a:sym typeface="DM Sans Bold"/>
              </a:rPr>
              <a:t>RELATED STUDIES</a:t>
            </a:r>
          </a:p>
        </p:txBody>
      </p:sp>
      <p:sp>
        <p:nvSpPr>
          <p:cNvPr id="6" name="TextBox 6">
            <a:extLst>
              <a:ext uri="{FF2B5EF4-FFF2-40B4-BE49-F238E27FC236}">
                <a16:creationId xmlns:a16="http://schemas.microsoft.com/office/drawing/2014/main" id="{9D373372-E8C4-CE12-BB57-153AB610665B}"/>
              </a:ext>
            </a:extLst>
          </p:cNvPr>
          <p:cNvSpPr txBox="1"/>
          <p:nvPr/>
        </p:nvSpPr>
        <p:spPr>
          <a:xfrm>
            <a:off x="2335576" y="2681605"/>
            <a:ext cx="13140931" cy="4268926"/>
          </a:xfrm>
          <a:prstGeom prst="rect">
            <a:avLst/>
          </a:prstGeom>
        </p:spPr>
        <p:txBody>
          <a:bodyPr lIns="0" tIns="0" rIns="0" bIns="0" rtlCol="0" anchor="t">
            <a:spAutoFit/>
          </a:bodyPr>
          <a:lstStyle/>
          <a:p>
            <a:pPr marL="734068" lvl="1" indent="-367034" algn="l">
              <a:lnSpc>
                <a:spcPts val="4760"/>
              </a:lnSpc>
              <a:buFont typeface="Arial"/>
              <a:buChar char="•"/>
            </a:pPr>
            <a:r>
              <a:rPr lang="en-US" sz="3400" dirty="0">
                <a:solidFill>
                  <a:srgbClr val="333C4A"/>
                </a:solidFill>
                <a:latin typeface="Libre Baskerville"/>
                <a:ea typeface="Libre Baskerville"/>
                <a:cs typeface="Libre Baskerville"/>
                <a:sym typeface="Libre Baskerville"/>
              </a:rPr>
              <a:t>User Experience (UX), Convenience, and Accessibility in Digital Transaction</a:t>
            </a:r>
          </a:p>
          <a:p>
            <a:pPr marL="734068" lvl="1" indent="-367034" algn="l">
              <a:lnSpc>
                <a:spcPts val="4760"/>
              </a:lnSpc>
              <a:buFont typeface="Arial"/>
              <a:buChar char="•"/>
            </a:pPr>
            <a:r>
              <a:rPr lang="en-US" sz="3400" dirty="0">
                <a:solidFill>
                  <a:srgbClr val="333C4A"/>
                </a:solidFill>
                <a:latin typeface="Libre Baskerville"/>
                <a:ea typeface="Libre Baskerville"/>
                <a:cs typeface="Libre Baskerville"/>
                <a:sym typeface="Libre Baskerville"/>
              </a:rPr>
              <a:t>Demographic Influence on E-Wallet Adoption and User Experience</a:t>
            </a:r>
          </a:p>
          <a:p>
            <a:pPr marL="734068" lvl="1" indent="-367034" algn="l">
              <a:lnSpc>
                <a:spcPts val="4760"/>
              </a:lnSpc>
              <a:buFont typeface="Arial"/>
              <a:buChar char="•"/>
            </a:pPr>
            <a:r>
              <a:rPr lang="en-US" sz="3400" dirty="0">
                <a:solidFill>
                  <a:srgbClr val="333C4A"/>
                </a:solidFill>
                <a:latin typeface="Libre Baskerville"/>
                <a:ea typeface="Libre Baskerville"/>
                <a:cs typeface="Libre Baskerville"/>
                <a:sym typeface="Libre Baskerville"/>
              </a:rPr>
              <a:t>Self-Service and Automation Initiatives in Mindanao</a:t>
            </a:r>
          </a:p>
          <a:p>
            <a:pPr marL="367034" lvl="1" algn="l">
              <a:lnSpc>
                <a:spcPts val="4760"/>
              </a:lnSpc>
            </a:pPr>
            <a:endParaRPr lang="en-US" sz="3400" dirty="0">
              <a:solidFill>
                <a:srgbClr val="333C4A"/>
              </a:solidFill>
              <a:latin typeface="Libre Baskerville"/>
              <a:ea typeface="Libre Baskerville"/>
              <a:cs typeface="Libre Baskerville"/>
              <a:sym typeface="Libre Baskerville"/>
            </a:endParaRPr>
          </a:p>
          <a:p>
            <a:pPr algn="l">
              <a:lnSpc>
                <a:spcPts val="4760"/>
              </a:lnSpc>
            </a:pPr>
            <a:endParaRPr lang="en-US" sz="3400" dirty="0">
              <a:solidFill>
                <a:srgbClr val="333C4A"/>
              </a:solidFill>
              <a:latin typeface="Libre Baskerville"/>
              <a:ea typeface="Libre Baskerville"/>
              <a:cs typeface="Libre Baskerville"/>
              <a:sym typeface="Libre Baskerville"/>
            </a:endParaRPr>
          </a:p>
        </p:txBody>
      </p:sp>
      <p:sp>
        <p:nvSpPr>
          <p:cNvPr id="7" name="Freeform 7">
            <a:extLst>
              <a:ext uri="{FF2B5EF4-FFF2-40B4-BE49-F238E27FC236}">
                <a16:creationId xmlns:a16="http://schemas.microsoft.com/office/drawing/2014/main" id="{6784E3F8-2D3B-FE1D-414E-D5FDA5A20472}"/>
              </a:ext>
            </a:extLst>
          </p:cNvPr>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915974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TextBox 2"/>
          <p:cNvSpPr txBox="1"/>
          <p:nvPr/>
        </p:nvSpPr>
        <p:spPr>
          <a:xfrm>
            <a:off x="2005047" y="3576956"/>
            <a:ext cx="14375430" cy="1566544"/>
          </a:xfrm>
          <a:prstGeom prst="rect">
            <a:avLst/>
          </a:prstGeom>
        </p:spPr>
        <p:txBody>
          <a:bodyPr lIns="0" tIns="0" rIns="0" bIns="0" rtlCol="0" anchor="t">
            <a:spAutoFit/>
          </a:bodyPr>
          <a:lstStyle/>
          <a:p>
            <a:pPr algn="l">
              <a:lnSpc>
                <a:spcPts val="12880"/>
              </a:lnSpc>
            </a:pPr>
            <a:r>
              <a:rPr lang="en-US" sz="9200" b="1">
                <a:solidFill>
                  <a:srgbClr val="333C4A"/>
                </a:solidFill>
                <a:latin typeface="DM Sans Bold"/>
                <a:ea typeface="DM Sans Bold"/>
                <a:cs typeface="DM Sans Bold"/>
                <a:sym typeface="DM Sans Bold"/>
              </a:rPr>
              <a:t>Conceptual Framework</a:t>
            </a:r>
          </a:p>
        </p:txBody>
      </p:sp>
      <p:sp>
        <p:nvSpPr>
          <p:cNvPr id="3" name="Freeform 3"/>
          <p:cNvSpPr/>
          <p:nvPr/>
        </p:nvSpPr>
        <p:spPr>
          <a:xfrm flipV="1">
            <a:off x="9990699" y="2057400"/>
            <a:ext cx="8345930" cy="8285233"/>
          </a:xfrm>
          <a:custGeom>
            <a:avLst/>
            <a:gdLst/>
            <a:ahLst/>
            <a:cxnLst/>
            <a:rect l="l" t="t" r="r" b="b"/>
            <a:pathLst>
              <a:path w="8345930" h="8285233">
                <a:moveTo>
                  <a:pt x="0" y="8285233"/>
                </a:moveTo>
                <a:lnTo>
                  <a:pt x="8345930" y="8285233"/>
                </a:lnTo>
                <a:lnTo>
                  <a:pt x="8345930" y="0"/>
                </a:lnTo>
                <a:lnTo>
                  <a:pt x="0" y="0"/>
                </a:lnTo>
                <a:lnTo>
                  <a:pt x="0" y="82852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989010" y="-1754332"/>
            <a:ext cx="3366669" cy="3480579"/>
          </a:xfrm>
          <a:custGeom>
            <a:avLst/>
            <a:gdLst/>
            <a:ahLst/>
            <a:cxnLst/>
            <a:rect l="l" t="t" r="r" b="b"/>
            <a:pathLst>
              <a:path w="3366669" h="3480579">
                <a:moveTo>
                  <a:pt x="3366669" y="3480579"/>
                </a:moveTo>
                <a:lnTo>
                  <a:pt x="0" y="3480579"/>
                </a:lnTo>
                <a:lnTo>
                  <a:pt x="0" y="0"/>
                </a:lnTo>
                <a:lnTo>
                  <a:pt x="3366669" y="0"/>
                </a:lnTo>
                <a:lnTo>
                  <a:pt x="3366669" y="348057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902108" y="8310183"/>
            <a:ext cx="2907154" cy="3005517"/>
          </a:xfrm>
          <a:custGeom>
            <a:avLst/>
            <a:gdLst/>
            <a:ahLst/>
            <a:cxnLst/>
            <a:rect l="l" t="t" r="r" b="b"/>
            <a:pathLst>
              <a:path w="2907154" h="3005517">
                <a:moveTo>
                  <a:pt x="0" y="0"/>
                </a:moveTo>
                <a:lnTo>
                  <a:pt x="2907155" y="0"/>
                </a:lnTo>
                <a:lnTo>
                  <a:pt x="2907155" y="3005517"/>
                </a:lnTo>
                <a:lnTo>
                  <a:pt x="0" y="30055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9990699" y="2057400"/>
            <a:ext cx="8345930" cy="8285233"/>
          </a:xfrm>
          <a:custGeom>
            <a:avLst/>
            <a:gdLst/>
            <a:ahLst/>
            <a:cxnLst/>
            <a:rect l="l" t="t" r="r" b="b"/>
            <a:pathLst>
              <a:path w="8345930" h="8285233">
                <a:moveTo>
                  <a:pt x="0" y="8285233"/>
                </a:moveTo>
                <a:lnTo>
                  <a:pt x="8345930" y="8285233"/>
                </a:lnTo>
                <a:lnTo>
                  <a:pt x="8345930" y="0"/>
                </a:lnTo>
                <a:lnTo>
                  <a:pt x="0" y="0"/>
                </a:lnTo>
                <a:lnTo>
                  <a:pt x="0" y="82852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4989010" y="-1754332"/>
            <a:ext cx="3366669" cy="3480579"/>
          </a:xfrm>
          <a:custGeom>
            <a:avLst/>
            <a:gdLst/>
            <a:ahLst/>
            <a:cxnLst/>
            <a:rect l="l" t="t" r="r" b="b"/>
            <a:pathLst>
              <a:path w="3366669" h="3480579">
                <a:moveTo>
                  <a:pt x="3366669" y="3480579"/>
                </a:moveTo>
                <a:lnTo>
                  <a:pt x="0" y="3480579"/>
                </a:lnTo>
                <a:lnTo>
                  <a:pt x="0" y="0"/>
                </a:lnTo>
                <a:lnTo>
                  <a:pt x="3366669" y="0"/>
                </a:lnTo>
                <a:lnTo>
                  <a:pt x="3366669" y="348057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902108" y="8310183"/>
            <a:ext cx="2907154" cy="3005517"/>
          </a:xfrm>
          <a:custGeom>
            <a:avLst/>
            <a:gdLst/>
            <a:ahLst/>
            <a:cxnLst/>
            <a:rect l="l" t="t" r="r" b="b"/>
            <a:pathLst>
              <a:path w="2907154" h="3005517">
                <a:moveTo>
                  <a:pt x="0" y="0"/>
                </a:moveTo>
                <a:lnTo>
                  <a:pt x="2907155" y="0"/>
                </a:lnTo>
                <a:lnTo>
                  <a:pt x="2907155" y="3005517"/>
                </a:lnTo>
                <a:lnTo>
                  <a:pt x="0" y="30055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2308089" y="9091062"/>
            <a:ext cx="8800908" cy="1251571"/>
          </a:xfrm>
          <a:prstGeom prst="rect">
            <a:avLst/>
          </a:prstGeom>
        </p:spPr>
        <p:txBody>
          <a:bodyPr lIns="0" tIns="0" rIns="0" bIns="0" rtlCol="0" anchor="t">
            <a:spAutoFit/>
          </a:bodyPr>
          <a:lstStyle/>
          <a:p>
            <a:pPr algn="ctr">
              <a:lnSpc>
                <a:spcPts val="5040"/>
              </a:lnSpc>
              <a:spcBef>
                <a:spcPct val="0"/>
              </a:spcBef>
            </a:pPr>
            <a:r>
              <a:rPr lang="en-US" sz="3600" b="1">
                <a:solidFill>
                  <a:srgbClr val="000000"/>
                </a:solidFill>
                <a:latin typeface="DM Sans Bold"/>
                <a:ea typeface="DM Sans Bold"/>
                <a:cs typeface="DM Sans Bold"/>
                <a:sym typeface="DM Sans Bold"/>
              </a:rPr>
              <a:t>Figure 1. Conceptual Framework of the Study. </a:t>
            </a:r>
          </a:p>
        </p:txBody>
      </p:sp>
      <p:pic>
        <p:nvPicPr>
          <p:cNvPr id="8" name="Picture 7">
            <a:extLst>
              <a:ext uri="{FF2B5EF4-FFF2-40B4-BE49-F238E27FC236}">
                <a16:creationId xmlns:a16="http://schemas.microsoft.com/office/drawing/2014/main" id="{EAD83D26-4876-2D83-324A-85B05C523434}"/>
              </a:ext>
            </a:extLst>
          </p:cNvPr>
          <p:cNvPicPr>
            <a:picLocks noChangeAspect="1"/>
          </p:cNvPicPr>
          <p:nvPr/>
        </p:nvPicPr>
        <p:blipFill>
          <a:blip r:embed="rId6"/>
          <a:stretch>
            <a:fillRect/>
          </a:stretch>
        </p:blipFill>
        <p:spPr>
          <a:xfrm>
            <a:off x="3561169" y="312792"/>
            <a:ext cx="9472265" cy="88038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0" y="7293167"/>
            <a:ext cx="5401421" cy="2993833"/>
          </a:xfrm>
          <a:custGeom>
            <a:avLst/>
            <a:gdLst/>
            <a:ahLst/>
            <a:cxnLst/>
            <a:rect l="l" t="t" r="r" b="b"/>
            <a:pathLst>
              <a:path w="5401421" h="2993833">
                <a:moveTo>
                  <a:pt x="0" y="2993833"/>
                </a:moveTo>
                <a:lnTo>
                  <a:pt x="5401421" y="2993833"/>
                </a:lnTo>
                <a:lnTo>
                  <a:pt x="5401421" y="0"/>
                </a:lnTo>
                <a:lnTo>
                  <a:pt x="0" y="0"/>
                </a:lnTo>
                <a:lnTo>
                  <a:pt x="0" y="29938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12886579" y="0"/>
            <a:ext cx="5401421" cy="2993833"/>
          </a:xfrm>
          <a:custGeom>
            <a:avLst/>
            <a:gdLst/>
            <a:ahLst/>
            <a:cxnLst/>
            <a:rect l="l" t="t" r="r" b="b"/>
            <a:pathLst>
              <a:path w="5401421" h="2993833">
                <a:moveTo>
                  <a:pt x="5401421" y="0"/>
                </a:moveTo>
                <a:lnTo>
                  <a:pt x="0" y="0"/>
                </a:lnTo>
                <a:lnTo>
                  <a:pt x="0" y="2993833"/>
                </a:lnTo>
                <a:lnTo>
                  <a:pt x="5401421" y="2993833"/>
                </a:lnTo>
                <a:lnTo>
                  <a:pt x="5401421"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279423" y="-2617884"/>
            <a:ext cx="3980134" cy="4114800"/>
          </a:xfrm>
          <a:custGeom>
            <a:avLst/>
            <a:gdLst/>
            <a:ahLst/>
            <a:cxnLst/>
            <a:rect l="l" t="t" r="r" b="b"/>
            <a:pathLst>
              <a:path w="3980134" h="4114800">
                <a:moveTo>
                  <a:pt x="0" y="4114800"/>
                </a:moveTo>
                <a:lnTo>
                  <a:pt x="3980133" y="4114800"/>
                </a:lnTo>
                <a:lnTo>
                  <a:pt x="3980133"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5507358" y="8790084"/>
            <a:ext cx="3980134" cy="4114800"/>
          </a:xfrm>
          <a:custGeom>
            <a:avLst/>
            <a:gdLst/>
            <a:ahLst/>
            <a:cxnLst/>
            <a:rect l="l" t="t" r="r" b="b"/>
            <a:pathLst>
              <a:path w="3980134" h="4114800">
                <a:moveTo>
                  <a:pt x="3980134" y="0"/>
                </a:moveTo>
                <a:lnTo>
                  <a:pt x="0" y="0"/>
                </a:lnTo>
                <a:lnTo>
                  <a:pt x="0" y="4114800"/>
                </a:lnTo>
                <a:lnTo>
                  <a:pt x="3980134" y="4114800"/>
                </a:lnTo>
                <a:lnTo>
                  <a:pt x="3980134"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3063516" y="1831340"/>
            <a:ext cx="12801624" cy="6540701"/>
          </a:xfrm>
          <a:prstGeom prst="rect">
            <a:avLst/>
          </a:prstGeom>
        </p:spPr>
        <p:txBody>
          <a:bodyPr lIns="0" tIns="0" rIns="0" bIns="0" rtlCol="0" anchor="t">
            <a:spAutoFit/>
          </a:bodyPr>
          <a:lstStyle/>
          <a:p>
            <a:pPr algn="ctr">
              <a:lnSpc>
                <a:spcPts val="12880"/>
              </a:lnSpc>
            </a:pPr>
            <a:endParaRPr dirty="0"/>
          </a:p>
          <a:p>
            <a:pPr algn="ctr">
              <a:lnSpc>
                <a:spcPts val="12880"/>
              </a:lnSpc>
            </a:pPr>
            <a:r>
              <a:rPr lang="en-US" sz="9200" b="1" dirty="0">
                <a:solidFill>
                  <a:srgbClr val="333C4A"/>
                </a:solidFill>
                <a:latin typeface="DM Sans Bold"/>
                <a:ea typeface="DM Sans Bold"/>
                <a:cs typeface="DM Sans Bold"/>
                <a:sym typeface="DM Sans Bold"/>
              </a:rPr>
              <a:t>METHODOLOGY</a:t>
            </a:r>
          </a:p>
          <a:p>
            <a:pPr algn="ctr">
              <a:lnSpc>
                <a:spcPts val="12880"/>
              </a:lnSpc>
            </a:pPr>
            <a:r>
              <a:rPr lang="en-US" sz="9200" b="1" dirty="0">
                <a:solidFill>
                  <a:srgbClr val="333C4A"/>
                </a:solidFill>
                <a:latin typeface="DM Sans Bold"/>
                <a:ea typeface="DM Sans Bold"/>
                <a:cs typeface="DM Sans Bold"/>
                <a:sym typeface="DM Sans Bold"/>
              </a:rPr>
              <a:t>CHAPTER III</a:t>
            </a:r>
          </a:p>
          <a:p>
            <a:pPr algn="ctr">
              <a:lnSpc>
                <a:spcPts val="12880"/>
              </a:lnSpc>
            </a:pPr>
            <a:endParaRPr lang="en-US" sz="9200" b="1" dirty="0">
              <a:solidFill>
                <a:srgbClr val="333C4A"/>
              </a:solidFill>
              <a:latin typeface="DM Sans Bold"/>
              <a:ea typeface="DM Sans Bold"/>
              <a:cs typeface="DM Sans Bold"/>
              <a:sym typeface="DM Sans Bo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2596752" y="644174"/>
            <a:ext cx="13094495" cy="3195319"/>
          </a:xfrm>
          <a:prstGeom prst="rect">
            <a:avLst/>
          </a:prstGeom>
        </p:spPr>
        <p:txBody>
          <a:bodyPr lIns="0" tIns="0" rIns="0" bIns="0" rtlCol="0" anchor="t">
            <a:spAutoFit/>
          </a:bodyPr>
          <a:lstStyle/>
          <a:p>
            <a:pPr algn="l">
              <a:lnSpc>
                <a:spcPts val="12880"/>
              </a:lnSpc>
            </a:pPr>
            <a:r>
              <a:rPr lang="en-US" sz="9200" b="1">
                <a:solidFill>
                  <a:srgbClr val="333C4A"/>
                </a:solidFill>
                <a:latin typeface="DM Sans Bold"/>
                <a:ea typeface="DM Sans Bold"/>
                <a:cs typeface="DM Sans Bold"/>
                <a:sym typeface="DM Sans Bold"/>
              </a:rPr>
              <a:t>Project Development Description </a:t>
            </a:r>
          </a:p>
        </p:txBody>
      </p:sp>
      <p:sp>
        <p:nvSpPr>
          <p:cNvPr id="6" name="TextBox 6"/>
          <p:cNvSpPr txBox="1"/>
          <p:nvPr/>
        </p:nvSpPr>
        <p:spPr>
          <a:xfrm>
            <a:off x="2173382" y="4181826"/>
            <a:ext cx="13140931" cy="2561590"/>
          </a:xfrm>
          <a:prstGeom prst="rect">
            <a:avLst/>
          </a:prstGeom>
        </p:spPr>
        <p:txBody>
          <a:bodyPr lIns="0" tIns="0" rIns="0" bIns="0" rtlCol="0" anchor="t">
            <a:spAutoFit/>
          </a:bodyPr>
          <a:lstStyle/>
          <a:p>
            <a:pPr marL="1057909" lvl="1" indent="-528955" algn="l">
              <a:lnSpc>
                <a:spcPts val="6859"/>
              </a:lnSpc>
              <a:buFont typeface="Arial"/>
              <a:buChar char="•"/>
            </a:pPr>
            <a:r>
              <a:rPr lang="en-US" sz="4899">
                <a:solidFill>
                  <a:srgbClr val="333C4A"/>
                </a:solidFill>
                <a:latin typeface="Libre Baskerville"/>
                <a:ea typeface="Libre Baskerville"/>
                <a:cs typeface="Libre Baskerville"/>
                <a:sym typeface="Libre Baskerville"/>
              </a:rPr>
              <a:t>Tools and Equipments</a:t>
            </a:r>
          </a:p>
          <a:p>
            <a:pPr marL="1057909" lvl="1" indent="-528955" algn="l">
              <a:lnSpc>
                <a:spcPts val="6859"/>
              </a:lnSpc>
              <a:buFont typeface="Arial"/>
              <a:buChar char="•"/>
            </a:pPr>
            <a:r>
              <a:rPr lang="en-US" sz="4899">
                <a:solidFill>
                  <a:srgbClr val="333C4A"/>
                </a:solidFill>
                <a:latin typeface="Libre Baskerville"/>
                <a:ea typeface="Libre Baskerville"/>
                <a:cs typeface="Libre Baskerville"/>
                <a:sym typeface="Libre Baskerville"/>
              </a:rPr>
              <a:t>Bill of Supplies and Materials </a:t>
            </a:r>
          </a:p>
          <a:p>
            <a:pPr marL="1057909" lvl="1" indent="-528955" algn="l">
              <a:lnSpc>
                <a:spcPts val="6859"/>
              </a:lnSpc>
              <a:buFont typeface="Arial"/>
              <a:buChar char="•"/>
            </a:pPr>
            <a:r>
              <a:rPr lang="en-US" sz="4899">
                <a:solidFill>
                  <a:srgbClr val="333C4A"/>
                </a:solidFill>
                <a:latin typeface="Libre Baskerville"/>
                <a:ea typeface="Libre Baskerville"/>
                <a:cs typeface="Libre Baskerville"/>
                <a:sym typeface="Libre Baskerville"/>
              </a:rPr>
              <a:t>Project duration </a:t>
            </a:r>
          </a:p>
        </p:txBody>
      </p:sp>
      <p:sp>
        <p:nvSpPr>
          <p:cNvPr id="7" name="Freeform 7"/>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2342446" y="770187"/>
            <a:ext cx="13603108" cy="8866948"/>
          </a:xfrm>
          <a:custGeom>
            <a:avLst/>
            <a:gdLst/>
            <a:ahLst/>
            <a:cxnLst/>
            <a:rect l="l" t="t" r="r" b="b"/>
            <a:pathLst>
              <a:path w="13603108" h="8866948">
                <a:moveTo>
                  <a:pt x="0" y="0"/>
                </a:moveTo>
                <a:lnTo>
                  <a:pt x="13603108" y="0"/>
                </a:lnTo>
                <a:lnTo>
                  <a:pt x="13603108" y="8866948"/>
                </a:lnTo>
                <a:lnTo>
                  <a:pt x="0" y="8866948"/>
                </a:lnTo>
                <a:lnTo>
                  <a:pt x="0" y="0"/>
                </a:lnTo>
                <a:close/>
              </a:path>
            </a:pathLst>
          </a:custGeom>
          <a:blipFill>
            <a:blip r:embed="rId6"/>
            <a:stretch>
              <a:fillRect/>
            </a:stretch>
          </a:blipFill>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3479127" y="280281"/>
            <a:ext cx="11005871" cy="9726439"/>
          </a:xfrm>
          <a:custGeom>
            <a:avLst/>
            <a:gdLst/>
            <a:ahLst/>
            <a:cxnLst/>
            <a:rect l="l" t="t" r="r" b="b"/>
            <a:pathLst>
              <a:path w="11005871" h="9726439">
                <a:moveTo>
                  <a:pt x="0" y="0"/>
                </a:moveTo>
                <a:lnTo>
                  <a:pt x="11005871" y="0"/>
                </a:lnTo>
                <a:lnTo>
                  <a:pt x="11005871" y="9726438"/>
                </a:lnTo>
                <a:lnTo>
                  <a:pt x="0" y="9726438"/>
                </a:lnTo>
                <a:lnTo>
                  <a:pt x="0" y="0"/>
                </a:lnTo>
                <a:close/>
              </a:path>
            </a:pathLst>
          </a:custGeom>
          <a:blipFill>
            <a:blip r:embed="rId6"/>
            <a:stretch>
              <a:fillRect/>
            </a:stretch>
          </a:blipFill>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3526716" y="203530"/>
            <a:ext cx="11173002" cy="9825799"/>
          </a:xfrm>
          <a:custGeom>
            <a:avLst/>
            <a:gdLst/>
            <a:ahLst/>
            <a:cxnLst/>
            <a:rect l="l" t="t" r="r" b="b"/>
            <a:pathLst>
              <a:path w="11173002" h="9825799">
                <a:moveTo>
                  <a:pt x="0" y="0"/>
                </a:moveTo>
                <a:lnTo>
                  <a:pt x="11173002" y="0"/>
                </a:lnTo>
                <a:lnTo>
                  <a:pt x="11173002" y="9825798"/>
                </a:lnTo>
                <a:lnTo>
                  <a:pt x="0" y="9825798"/>
                </a:lnTo>
                <a:lnTo>
                  <a:pt x="0" y="0"/>
                </a:lnTo>
                <a:close/>
              </a:path>
            </a:pathLst>
          </a:custGeom>
          <a:blipFill>
            <a:blip r:embed="rId6"/>
            <a:stretch>
              <a:fillRect/>
            </a:stretch>
          </a:blipFill>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807292" y="968363"/>
            <a:ext cx="17082388" cy="4824094"/>
          </a:xfrm>
          <a:prstGeom prst="rect">
            <a:avLst/>
          </a:prstGeom>
        </p:spPr>
        <p:txBody>
          <a:bodyPr lIns="0" tIns="0" rIns="0" bIns="0" rtlCol="0" anchor="t">
            <a:spAutoFit/>
          </a:bodyPr>
          <a:lstStyle/>
          <a:p>
            <a:pPr algn="l">
              <a:lnSpc>
                <a:spcPts val="12880"/>
              </a:lnSpc>
            </a:pPr>
            <a:r>
              <a:rPr lang="en-US" sz="9200" b="1">
                <a:solidFill>
                  <a:srgbClr val="333C4A"/>
                </a:solidFill>
                <a:latin typeface="DM Sans Bold"/>
                <a:ea typeface="DM Sans Bold"/>
                <a:cs typeface="DM Sans Bold"/>
                <a:sym typeface="DM Sans Bold"/>
              </a:rPr>
              <a:t>Software Development and Methodology</a:t>
            </a:r>
          </a:p>
          <a:p>
            <a:pPr algn="l">
              <a:lnSpc>
                <a:spcPts val="12880"/>
              </a:lnSpc>
            </a:pPr>
            <a:endParaRPr lang="en-US" sz="9200" b="1">
              <a:solidFill>
                <a:srgbClr val="333C4A"/>
              </a:solidFill>
              <a:latin typeface="DM Sans Bold"/>
              <a:ea typeface="DM Sans Bold"/>
              <a:cs typeface="DM Sans Bold"/>
              <a:sym typeface="DM Sans Bold"/>
            </a:endParaRPr>
          </a:p>
        </p:txBody>
      </p:sp>
      <p:sp>
        <p:nvSpPr>
          <p:cNvPr id="6" name="TextBox 6"/>
          <p:cNvSpPr txBox="1"/>
          <p:nvPr/>
        </p:nvSpPr>
        <p:spPr>
          <a:xfrm>
            <a:off x="1807292" y="4752692"/>
            <a:ext cx="13140931" cy="3428365"/>
          </a:xfrm>
          <a:prstGeom prst="rect">
            <a:avLst/>
          </a:prstGeom>
        </p:spPr>
        <p:txBody>
          <a:bodyPr lIns="0" tIns="0" rIns="0" bIns="0" rtlCol="0" anchor="t">
            <a:spAutoFit/>
          </a:bodyPr>
          <a:lstStyle/>
          <a:p>
            <a:pPr marL="1057909" lvl="1" indent="-528955" algn="l">
              <a:lnSpc>
                <a:spcPts val="6859"/>
              </a:lnSpc>
              <a:buFont typeface="Arial"/>
              <a:buChar char="•"/>
            </a:pPr>
            <a:r>
              <a:rPr lang="en-US" sz="4899">
                <a:solidFill>
                  <a:srgbClr val="333C4A"/>
                </a:solidFill>
                <a:latin typeface="Libre Baskerville"/>
                <a:ea typeface="Libre Baskerville"/>
                <a:cs typeface="Libre Baskerville"/>
                <a:sym typeface="Libre Baskerville"/>
              </a:rPr>
              <a:t>Context Diagram</a:t>
            </a:r>
          </a:p>
          <a:p>
            <a:pPr marL="1057909" lvl="1" indent="-528955" algn="l">
              <a:lnSpc>
                <a:spcPts val="6859"/>
              </a:lnSpc>
              <a:buFont typeface="Arial"/>
              <a:buChar char="•"/>
            </a:pPr>
            <a:r>
              <a:rPr lang="en-US" sz="4899">
                <a:solidFill>
                  <a:srgbClr val="333C4A"/>
                </a:solidFill>
                <a:latin typeface="Libre Baskerville"/>
                <a:ea typeface="Libre Baskerville"/>
                <a:cs typeface="Libre Baskerville"/>
                <a:sym typeface="Libre Baskerville"/>
              </a:rPr>
              <a:t>Data Flow Diagram</a:t>
            </a:r>
          </a:p>
          <a:p>
            <a:pPr marL="1057909" lvl="1" indent="-528955" algn="l">
              <a:lnSpc>
                <a:spcPts val="6859"/>
              </a:lnSpc>
              <a:buFont typeface="Arial"/>
              <a:buChar char="•"/>
            </a:pPr>
            <a:r>
              <a:rPr lang="en-US" sz="4899">
                <a:solidFill>
                  <a:srgbClr val="333C4A"/>
                </a:solidFill>
                <a:latin typeface="Libre Baskerville"/>
                <a:ea typeface="Libre Baskerville"/>
                <a:cs typeface="Libre Baskerville"/>
                <a:sym typeface="Libre Baskerville"/>
              </a:rPr>
              <a:t>Entity Relationship Diagram</a:t>
            </a:r>
          </a:p>
          <a:p>
            <a:pPr marL="1057909" lvl="1" indent="-528955" algn="l">
              <a:lnSpc>
                <a:spcPts val="6859"/>
              </a:lnSpc>
              <a:buFont typeface="Arial"/>
              <a:buChar char="•"/>
            </a:pPr>
            <a:r>
              <a:rPr lang="en-US" sz="4899">
                <a:solidFill>
                  <a:srgbClr val="333C4A"/>
                </a:solidFill>
                <a:latin typeface="Libre Baskerville"/>
                <a:ea typeface="Libre Baskerville"/>
                <a:cs typeface="Libre Baskerville"/>
                <a:sym typeface="Libre Baskerville"/>
              </a:rPr>
              <a:t>Database Structure</a:t>
            </a:r>
          </a:p>
        </p:txBody>
      </p:sp>
      <p:sp>
        <p:nvSpPr>
          <p:cNvPr id="7" name="Freeform 7"/>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2472735" y="1179391"/>
            <a:ext cx="14328421" cy="8238842"/>
          </a:xfrm>
          <a:custGeom>
            <a:avLst/>
            <a:gdLst/>
            <a:ahLst/>
            <a:cxnLst/>
            <a:rect l="l" t="t" r="r" b="b"/>
            <a:pathLst>
              <a:path w="14328421" h="8238842">
                <a:moveTo>
                  <a:pt x="0" y="0"/>
                </a:moveTo>
                <a:lnTo>
                  <a:pt x="14328421" y="0"/>
                </a:lnTo>
                <a:lnTo>
                  <a:pt x="14328421" y="8238843"/>
                </a:lnTo>
                <a:lnTo>
                  <a:pt x="0" y="8238843"/>
                </a:lnTo>
                <a:lnTo>
                  <a:pt x="0" y="0"/>
                </a:lnTo>
                <a:close/>
              </a:path>
            </a:pathLst>
          </a:custGeom>
          <a:blipFill>
            <a:blip r:embed="rId6"/>
            <a:stretch>
              <a:fillRect/>
            </a:stretch>
          </a:blipFill>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A669C048-0586-D7B4-9062-D47150BAF4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4639" y="876300"/>
            <a:ext cx="13417841" cy="8458200"/>
          </a:xfrm>
          <a:prstGeom prst="rect">
            <a:avLst/>
          </a:prstGeom>
        </p:spPr>
      </p:pic>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TextBox 14">
            <a:extLst>
              <a:ext uri="{FF2B5EF4-FFF2-40B4-BE49-F238E27FC236}">
                <a16:creationId xmlns:a16="http://schemas.microsoft.com/office/drawing/2014/main" id="{A3805AA3-10F6-C197-95E1-F22993008AD4}"/>
              </a:ext>
            </a:extLst>
          </p:cNvPr>
          <p:cNvSpPr txBox="1"/>
          <p:nvPr/>
        </p:nvSpPr>
        <p:spPr>
          <a:xfrm>
            <a:off x="2786576" y="8404216"/>
            <a:ext cx="4038600" cy="461665"/>
          </a:xfrm>
          <a:prstGeom prst="rect">
            <a:avLst/>
          </a:prstGeom>
          <a:noFill/>
        </p:spPr>
        <p:txBody>
          <a:bodyPr wrap="square" rtlCol="0">
            <a:spAutoFit/>
          </a:bodyPr>
          <a:lstStyle/>
          <a:p>
            <a:r>
              <a:rPr lang="en-PH" sz="2400" dirty="0"/>
              <a:t>Figure 4. Context Diagram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8" name="Picture 7">
            <a:extLst>
              <a:ext uri="{FF2B5EF4-FFF2-40B4-BE49-F238E27FC236}">
                <a16:creationId xmlns:a16="http://schemas.microsoft.com/office/drawing/2014/main" id="{4534A7B6-963E-16AE-5C66-3FE2ADFC6DF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73687" y="800100"/>
            <a:ext cx="11199513" cy="9156605"/>
          </a:xfrm>
          <a:prstGeom prst="rect">
            <a:avLst/>
          </a:prstGeom>
        </p:spPr>
      </p:pic>
      <p:sp>
        <p:nvSpPr>
          <p:cNvPr id="9" name="TextBox 8">
            <a:extLst>
              <a:ext uri="{FF2B5EF4-FFF2-40B4-BE49-F238E27FC236}">
                <a16:creationId xmlns:a16="http://schemas.microsoft.com/office/drawing/2014/main" id="{1A05D310-92D0-4A85-4726-0CC0593268EB}"/>
              </a:ext>
            </a:extLst>
          </p:cNvPr>
          <p:cNvSpPr txBox="1"/>
          <p:nvPr/>
        </p:nvSpPr>
        <p:spPr>
          <a:xfrm>
            <a:off x="3124200" y="9025235"/>
            <a:ext cx="4038600" cy="461665"/>
          </a:xfrm>
          <a:prstGeom prst="rect">
            <a:avLst/>
          </a:prstGeom>
          <a:noFill/>
        </p:spPr>
        <p:txBody>
          <a:bodyPr wrap="square" rtlCol="0">
            <a:spAutoFit/>
          </a:bodyPr>
          <a:lstStyle/>
          <a:p>
            <a:r>
              <a:rPr lang="en-PH" sz="2400" dirty="0"/>
              <a:t>Figure 5. Data Diagram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816865" y="1294343"/>
            <a:ext cx="14765880" cy="6903049"/>
          </a:xfrm>
          <a:custGeom>
            <a:avLst/>
            <a:gdLst/>
            <a:ahLst/>
            <a:cxnLst/>
            <a:rect l="l" t="t" r="r" b="b"/>
            <a:pathLst>
              <a:path w="14765880" h="6903049">
                <a:moveTo>
                  <a:pt x="0" y="0"/>
                </a:moveTo>
                <a:lnTo>
                  <a:pt x="14765880" y="0"/>
                </a:lnTo>
                <a:lnTo>
                  <a:pt x="14765880" y="6903048"/>
                </a:lnTo>
                <a:lnTo>
                  <a:pt x="0" y="6903048"/>
                </a:lnTo>
                <a:lnTo>
                  <a:pt x="0" y="0"/>
                </a:lnTo>
                <a:close/>
              </a:path>
            </a:pathLst>
          </a:custGeom>
          <a:blipFill>
            <a:blip r:embed="rId6"/>
            <a:stretch>
              <a:fillRect/>
            </a:stretch>
          </a:blipFill>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881061" y="1360866"/>
            <a:ext cx="14807340" cy="6552248"/>
          </a:xfrm>
          <a:custGeom>
            <a:avLst/>
            <a:gdLst/>
            <a:ahLst/>
            <a:cxnLst/>
            <a:rect l="l" t="t" r="r" b="b"/>
            <a:pathLst>
              <a:path w="14807340" h="6552248">
                <a:moveTo>
                  <a:pt x="0" y="0"/>
                </a:moveTo>
                <a:lnTo>
                  <a:pt x="14807340" y="0"/>
                </a:lnTo>
                <a:lnTo>
                  <a:pt x="14807340" y="6552248"/>
                </a:lnTo>
                <a:lnTo>
                  <a:pt x="0" y="6552248"/>
                </a:lnTo>
                <a:lnTo>
                  <a:pt x="0" y="0"/>
                </a:lnTo>
                <a:close/>
              </a:path>
            </a:pathLst>
          </a:custGeom>
          <a:blipFill>
            <a:blip r:embed="rId6"/>
            <a:stretch>
              <a:fillRect/>
            </a:stretch>
          </a:blipFill>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2150522" y="1270440"/>
            <a:ext cx="14901445" cy="7096813"/>
          </a:xfrm>
          <a:custGeom>
            <a:avLst/>
            <a:gdLst/>
            <a:ahLst/>
            <a:cxnLst/>
            <a:rect l="l" t="t" r="r" b="b"/>
            <a:pathLst>
              <a:path w="14901445" h="7096813">
                <a:moveTo>
                  <a:pt x="0" y="0"/>
                </a:moveTo>
                <a:lnTo>
                  <a:pt x="14901445" y="0"/>
                </a:lnTo>
                <a:lnTo>
                  <a:pt x="14901445" y="7096813"/>
                </a:lnTo>
                <a:lnTo>
                  <a:pt x="0" y="7096813"/>
                </a:lnTo>
                <a:lnTo>
                  <a:pt x="0" y="0"/>
                </a:lnTo>
                <a:close/>
              </a:path>
            </a:pathLst>
          </a:custGeom>
          <a:blipFill>
            <a:blip r:embed="rId6"/>
            <a:stretch>
              <a:fillRect/>
            </a:stretch>
          </a:blipFill>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807292" y="968363"/>
            <a:ext cx="17082388" cy="4824094"/>
          </a:xfrm>
          <a:prstGeom prst="rect">
            <a:avLst/>
          </a:prstGeom>
        </p:spPr>
        <p:txBody>
          <a:bodyPr lIns="0" tIns="0" rIns="0" bIns="0" rtlCol="0" anchor="t">
            <a:spAutoFit/>
          </a:bodyPr>
          <a:lstStyle/>
          <a:p>
            <a:pPr algn="l">
              <a:lnSpc>
                <a:spcPts val="12880"/>
              </a:lnSpc>
            </a:pPr>
            <a:r>
              <a:rPr lang="en-US" sz="9200" b="1">
                <a:solidFill>
                  <a:srgbClr val="333C4A"/>
                </a:solidFill>
                <a:latin typeface="DM Sans Bold"/>
                <a:ea typeface="DM Sans Bold"/>
                <a:cs typeface="DM Sans Bold"/>
                <a:sym typeface="DM Sans Bold"/>
              </a:rPr>
              <a:t>Hardware Development and Methodology</a:t>
            </a:r>
          </a:p>
          <a:p>
            <a:pPr algn="l">
              <a:lnSpc>
                <a:spcPts val="12880"/>
              </a:lnSpc>
            </a:pPr>
            <a:endParaRPr lang="en-US" sz="9200" b="1">
              <a:solidFill>
                <a:srgbClr val="333C4A"/>
              </a:solidFill>
              <a:latin typeface="DM Sans Bold"/>
              <a:ea typeface="DM Sans Bold"/>
              <a:cs typeface="DM Sans Bold"/>
              <a:sym typeface="DM Sans Bold"/>
            </a:endParaRPr>
          </a:p>
        </p:txBody>
      </p:sp>
      <p:sp>
        <p:nvSpPr>
          <p:cNvPr id="6" name="TextBox 6"/>
          <p:cNvSpPr txBox="1"/>
          <p:nvPr/>
        </p:nvSpPr>
        <p:spPr>
          <a:xfrm>
            <a:off x="1807292" y="4423211"/>
            <a:ext cx="13140931" cy="3428365"/>
          </a:xfrm>
          <a:prstGeom prst="rect">
            <a:avLst/>
          </a:prstGeom>
        </p:spPr>
        <p:txBody>
          <a:bodyPr lIns="0" tIns="0" rIns="0" bIns="0" rtlCol="0" anchor="t">
            <a:spAutoFit/>
          </a:bodyPr>
          <a:lstStyle/>
          <a:p>
            <a:pPr marL="1057909" lvl="1" indent="-528955" algn="l">
              <a:lnSpc>
                <a:spcPts val="6859"/>
              </a:lnSpc>
              <a:buFont typeface="Arial"/>
              <a:buChar char="•"/>
            </a:pPr>
            <a:r>
              <a:rPr lang="en-US" sz="4899">
                <a:solidFill>
                  <a:srgbClr val="333C4A"/>
                </a:solidFill>
                <a:latin typeface="Libre Baskerville"/>
                <a:ea typeface="Libre Baskerville"/>
                <a:cs typeface="Libre Baskerville"/>
                <a:sym typeface="Libre Baskerville"/>
              </a:rPr>
              <a:t>Perspective Plan</a:t>
            </a:r>
          </a:p>
          <a:p>
            <a:pPr marL="1057909" lvl="1" indent="-528955" algn="l">
              <a:lnSpc>
                <a:spcPts val="6859"/>
              </a:lnSpc>
              <a:buFont typeface="Arial"/>
              <a:buChar char="•"/>
            </a:pPr>
            <a:r>
              <a:rPr lang="en-US" sz="4899">
                <a:solidFill>
                  <a:srgbClr val="333C4A"/>
                </a:solidFill>
                <a:latin typeface="Libre Baskerville"/>
                <a:ea typeface="Libre Baskerville"/>
                <a:cs typeface="Libre Baskerville"/>
                <a:sym typeface="Libre Baskerville"/>
              </a:rPr>
              <a:t>Construction Procedures             </a:t>
            </a:r>
          </a:p>
          <a:p>
            <a:pPr marL="1057909" lvl="1" indent="-528955" algn="l">
              <a:lnSpc>
                <a:spcPts val="6859"/>
              </a:lnSpc>
              <a:buFont typeface="Arial"/>
              <a:buChar char="•"/>
            </a:pPr>
            <a:r>
              <a:rPr lang="en-US" sz="4899">
                <a:solidFill>
                  <a:srgbClr val="333C4A"/>
                </a:solidFill>
                <a:latin typeface="Libre Baskerville"/>
                <a:ea typeface="Libre Baskerville"/>
                <a:cs typeface="Libre Baskerville"/>
                <a:sym typeface="Libre Baskerville"/>
              </a:rPr>
              <a:t>Flow Chart</a:t>
            </a:r>
          </a:p>
          <a:p>
            <a:pPr algn="l">
              <a:lnSpc>
                <a:spcPts val="6859"/>
              </a:lnSpc>
            </a:pPr>
            <a:endParaRPr lang="en-US" sz="4899">
              <a:solidFill>
                <a:srgbClr val="333C4A"/>
              </a:solidFill>
              <a:latin typeface="Libre Baskerville"/>
              <a:ea typeface="Libre Baskerville"/>
              <a:cs typeface="Libre Baskerville"/>
              <a:sym typeface="Libre Baskerville"/>
            </a:endParaRPr>
          </a:p>
        </p:txBody>
      </p:sp>
      <p:sp>
        <p:nvSpPr>
          <p:cNvPr id="7" name="Freeform 7"/>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2973687" y="521089"/>
            <a:ext cx="11615579" cy="9045632"/>
          </a:xfrm>
          <a:custGeom>
            <a:avLst/>
            <a:gdLst/>
            <a:ahLst/>
            <a:cxnLst/>
            <a:rect l="l" t="t" r="r" b="b"/>
            <a:pathLst>
              <a:path w="11615579" h="9045632">
                <a:moveTo>
                  <a:pt x="0" y="0"/>
                </a:moveTo>
                <a:lnTo>
                  <a:pt x="11615579" y="0"/>
                </a:lnTo>
                <a:lnTo>
                  <a:pt x="11615579" y="9045632"/>
                </a:lnTo>
                <a:lnTo>
                  <a:pt x="0" y="9045632"/>
                </a:lnTo>
                <a:lnTo>
                  <a:pt x="0" y="0"/>
                </a:lnTo>
                <a:close/>
              </a:path>
            </a:pathLst>
          </a:custGeom>
          <a:blipFill>
            <a:blip r:embed="rId6"/>
            <a:stretch>
              <a:fillRect t="-336" r="-672" b="-336"/>
            </a:stretch>
          </a:blipFill>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022733" y="2650490"/>
            <a:ext cx="15447295" cy="5499967"/>
          </a:xfrm>
          <a:prstGeom prst="rect">
            <a:avLst/>
          </a:prstGeom>
        </p:spPr>
        <p:txBody>
          <a:bodyPr lIns="0" tIns="0" rIns="0" bIns="0" rtlCol="0" anchor="t">
            <a:spAutoFit/>
          </a:bodyPr>
          <a:lstStyle/>
          <a:p>
            <a:pPr algn="l">
              <a:lnSpc>
                <a:spcPts val="4759"/>
              </a:lnSpc>
            </a:pPr>
            <a:r>
              <a:rPr lang="en-US" sz="3399" b="1" dirty="0">
                <a:solidFill>
                  <a:srgbClr val="333C4A"/>
                </a:solidFill>
                <a:latin typeface="Libre Baskerville Bold"/>
                <a:ea typeface="Libre Baskerville Bold"/>
                <a:cs typeface="Libre Baskerville Bold"/>
                <a:sym typeface="Libre Baskerville Bold"/>
              </a:rPr>
              <a:t>1. Gather all materials, supplies, and equipment required for constructing the kiosk, including the Raspberry Pi, touchscreen monitor, Inkjet printer, power supply, wiring, cooling fan, enclosure materials, hinges, and locks. </a:t>
            </a:r>
          </a:p>
          <a:p>
            <a:pPr algn="l">
              <a:lnSpc>
                <a:spcPts val="4759"/>
              </a:lnSpc>
            </a:pPr>
            <a:endParaRPr lang="en-US" sz="3399" b="1" dirty="0">
              <a:solidFill>
                <a:srgbClr val="333C4A"/>
              </a:solidFill>
              <a:latin typeface="Libre Baskerville Bold"/>
              <a:ea typeface="Libre Baskerville Bold"/>
              <a:cs typeface="Libre Baskerville Bold"/>
              <a:sym typeface="Libre Baskerville Bold"/>
            </a:endParaRPr>
          </a:p>
          <a:p>
            <a:pPr algn="l">
              <a:lnSpc>
                <a:spcPts val="4759"/>
              </a:lnSpc>
            </a:pPr>
            <a:r>
              <a:rPr lang="en-US" sz="3399" b="1" dirty="0">
                <a:solidFill>
                  <a:srgbClr val="333C4A"/>
                </a:solidFill>
                <a:latin typeface="Libre Baskerville Bold"/>
                <a:ea typeface="Libre Baskerville Bold"/>
                <a:cs typeface="Libre Baskerville Bold"/>
                <a:sym typeface="Libre Baskerville Bold"/>
              </a:rPr>
              <a:t>2. Fabricate the kiosk enclosure, which serves as the housing for all internal components such as the Raspberry Pi, power supply, and cable management system. Ventilation grills and cooling fans were also considered in the design to prevent overheating. </a:t>
            </a:r>
          </a:p>
        </p:txBody>
      </p:sp>
      <p:sp>
        <p:nvSpPr>
          <p:cNvPr id="7" name="TextBox 7"/>
          <p:cNvSpPr txBox="1"/>
          <p:nvPr/>
        </p:nvSpPr>
        <p:spPr>
          <a:xfrm>
            <a:off x="2973687" y="1098947"/>
            <a:ext cx="8991810" cy="936612"/>
          </a:xfrm>
          <a:prstGeom prst="rect">
            <a:avLst/>
          </a:prstGeom>
        </p:spPr>
        <p:txBody>
          <a:bodyPr lIns="0" tIns="0" rIns="0" bIns="0" rtlCol="0" anchor="t">
            <a:spAutoFit/>
          </a:bodyPr>
          <a:lstStyle/>
          <a:p>
            <a:pPr algn="l">
              <a:lnSpc>
                <a:spcPts val="7700"/>
              </a:lnSpc>
            </a:pPr>
            <a:r>
              <a:rPr lang="en-US" sz="5500" b="1">
                <a:solidFill>
                  <a:srgbClr val="333C4A"/>
                </a:solidFill>
                <a:latin typeface="DM Sans Bold"/>
                <a:ea typeface="DM Sans Bold"/>
                <a:cs typeface="DM Sans Bold"/>
                <a:sym typeface="DM Sans Bold"/>
              </a:rPr>
              <a:t>Construction Procedures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2173112" y="1588831"/>
            <a:ext cx="14477158" cy="8300349"/>
          </a:xfrm>
          <a:prstGeom prst="rect">
            <a:avLst/>
          </a:prstGeom>
        </p:spPr>
        <p:txBody>
          <a:bodyPr lIns="0" tIns="0" rIns="0" bIns="0" rtlCol="0" anchor="t">
            <a:spAutoFit/>
          </a:bodyPr>
          <a:lstStyle/>
          <a:p>
            <a:pPr algn="l">
              <a:lnSpc>
                <a:spcPts val="4759"/>
              </a:lnSpc>
            </a:pPr>
            <a:r>
              <a:rPr lang="en-US" sz="3399" b="1" dirty="0">
                <a:solidFill>
                  <a:srgbClr val="333C4A"/>
                </a:solidFill>
                <a:latin typeface="Libre Baskerville Bold"/>
                <a:ea typeface="Libre Baskerville Bold"/>
                <a:cs typeface="Libre Baskerville Bold"/>
                <a:sym typeface="Libre Baskerville Bold"/>
              </a:rPr>
              <a:t>3. Install the main components, including the Inkjet printer in the side section of the kiosk for document output, the touchscreen monitors at eye level for the user interface, the Raspberry Pi on its mounting bracket. </a:t>
            </a:r>
          </a:p>
          <a:p>
            <a:pPr algn="l">
              <a:lnSpc>
                <a:spcPts val="4759"/>
              </a:lnSpc>
            </a:pPr>
            <a:endParaRPr lang="en-US" sz="3399" b="1" dirty="0">
              <a:solidFill>
                <a:srgbClr val="333C4A"/>
              </a:solidFill>
              <a:latin typeface="Libre Baskerville Bold"/>
              <a:ea typeface="Libre Baskerville Bold"/>
              <a:cs typeface="Libre Baskerville Bold"/>
              <a:sym typeface="Libre Baskerville Bold"/>
            </a:endParaRPr>
          </a:p>
          <a:p>
            <a:pPr lvl="0"/>
            <a:r>
              <a:rPr lang="en-US" sz="3399" b="1" dirty="0">
                <a:solidFill>
                  <a:srgbClr val="333C4A"/>
                </a:solidFill>
                <a:latin typeface="Libre Baskerville Bold"/>
                <a:ea typeface="Libre Baskerville Bold"/>
                <a:cs typeface="Libre Baskerville Bold"/>
                <a:sym typeface="Libre Baskerville Bold"/>
              </a:rPr>
              <a:t>4. Program the Raspberry Pi with the appropriate code to manage the file upload, page counting, </a:t>
            </a:r>
            <a:r>
              <a:rPr lang="en-US" sz="3399" b="1" dirty="0" err="1">
                <a:solidFill>
                  <a:srgbClr val="333C4A"/>
                </a:solidFill>
                <a:latin typeface="Libre Baskerville Bold"/>
                <a:ea typeface="Libre Baskerville Bold"/>
                <a:cs typeface="Libre Baskerville Bold"/>
                <a:sym typeface="Libre Baskerville Bold"/>
              </a:rPr>
              <a:t>Xendit</a:t>
            </a:r>
            <a:r>
              <a:rPr lang="en-US" sz="3399" b="1" dirty="0">
                <a:solidFill>
                  <a:srgbClr val="333C4A"/>
                </a:solidFill>
                <a:latin typeface="Libre Baskerville Bold"/>
                <a:ea typeface="Libre Baskerville Bold"/>
                <a:cs typeface="Libre Baskerville Bold"/>
                <a:sym typeface="Libre Baskerville Bold"/>
              </a:rPr>
              <a:t> API, payment request handling, printer control, and database logging.</a:t>
            </a:r>
            <a:endParaRPr lang="en-PH" dirty="0"/>
          </a:p>
          <a:p>
            <a:pPr algn="l">
              <a:lnSpc>
                <a:spcPts val="4759"/>
              </a:lnSpc>
            </a:pPr>
            <a:endParaRPr lang="en-US" sz="3399" b="1" dirty="0">
              <a:solidFill>
                <a:srgbClr val="333C4A"/>
              </a:solidFill>
              <a:latin typeface="Libre Baskerville Bold"/>
              <a:ea typeface="Libre Baskerville Bold"/>
              <a:cs typeface="Libre Baskerville Bold"/>
              <a:sym typeface="Libre Baskerville Bold"/>
            </a:endParaRPr>
          </a:p>
          <a:p>
            <a:pPr algn="l">
              <a:lnSpc>
                <a:spcPts val="4759"/>
              </a:lnSpc>
            </a:pPr>
            <a:r>
              <a:rPr lang="en-US" sz="3399" b="1" dirty="0">
                <a:solidFill>
                  <a:srgbClr val="333C4A"/>
                </a:solidFill>
                <a:latin typeface="Libre Baskerville Bold"/>
                <a:ea typeface="Libre Baskerville Bold"/>
                <a:cs typeface="Libre Baskerville Bold"/>
                <a:sym typeface="Libre Baskerville Bold"/>
              </a:rPr>
              <a:t> 5. Connect the electrical and electronic components, including the Raspberry Pi GPIO pins, printer interface, and cooling system, ensuring proper circuit assembly and insulation with shrink tubes and cable ducts. </a:t>
            </a:r>
          </a:p>
          <a:p>
            <a:pPr algn="l">
              <a:lnSpc>
                <a:spcPts val="4759"/>
              </a:lnSpc>
            </a:pPr>
            <a:endParaRPr lang="en-US" sz="3399" b="1" dirty="0">
              <a:solidFill>
                <a:srgbClr val="333C4A"/>
              </a:solidFill>
              <a:latin typeface="Libre Baskerville Bold"/>
              <a:ea typeface="Libre Baskerville Bold"/>
              <a:cs typeface="Libre Baskerville Bold"/>
              <a:sym typeface="Libre Baskerville Bold"/>
            </a:endParaRPr>
          </a:p>
        </p:txBody>
      </p:sp>
      <p:sp>
        <p:nvSpPr>
          <p:cNvPr id="7" name="TextBox 7"/>
          <p:cNvSpPr txBox="1"/>
          <p:nvPr/>
        </p:nvSpPr>
        <p:spPr>
          <a:xfrm>
            <a:off x="3120123" y="508006"/>
            <a:ext cx="8991810" cy="936612"/>
          </a:xfrm>
          <a:prstGeom prst="rect">
            <a:avLst/>
          </a:prstGeom>
        </p:spPr>
        <p:txBody>
          <a:bodyPr lIns="0" tIns="0" rIns="0" bIns="0" rtlCol="0" anchor="t">
            <a:spAutoFit/>
          </a:bodyPr>
          <a:lstStyle/>
          <a:p>
            <a:pPr algn="l">
              <a:lnSpc>
                <a:spcPts val="7700"/>
              </a:lnSpc>
            </a:pPr>
            <a:r>
              <a:rPr lang="en-US" sz="5500" b="1">
                <a:solidFill>
                  <a:srgbClr val="333C4A"/>
                </a:solidFill>
                <a:latin typeface="DM Sans Bold"/>
                <a:ea typeface="DM Sans Bold"/>
                <a:cs typeface="DM Sans Bold"/>
                <a:sym typeface="DM Sans Bold"/>
              </a:rPr>
              <a:t>Construction Procedures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022733" y="2650490"/>
            <a:ext cx="16236567" cy="6115585"/>
          </a:xfrm>
          <a:prstGeom prst="rect">
            <a:avLst/>
          </a:prstGeom>
        </p:spPr>
        <p:txBody>
          <a:bodyPr lIns="0" tIns="0" rIns="0" bIns="0" rtlCol="0" anchor="t">
            <a:spAutoFit/>
          </a:bodyPr>
          <a:lstStyle/>
          <a:p>
            <a:pPr algn="l">
              <a:lnSpc>
                <a:spcPts val="4760"/>
              </a:lnSpc>
            </a:pPr>
            <a:r>
              <a:rPr lang="en-US" sz="3400" b="1" dirty="0">
                <a:solidFill>
                  <a:srgbClr val="333C4A"/>
                </a:solidFill>
                <a:latin typeface="Libre Baskerville Bold"/>
                <a:ea typeface="Libre Baskerville Bold"/>
                <a:cs typeface="Libre Baskerville Bold"/>
                <a:sym typeface="Libre Baskerville Bold"/>
              </a:rPr>
              <a:t>  </a:t>
            </a:r>
          </a:p>
          <a:p>
            <a:pPr algn="l">
              <a:lnSpc>
                <a:spcPts val="4760"/>
              </a:lnSpc>
            </a:pPr>
            <a:r>
              <a:rPr lang="en-US" sz="3400" b="1" dirty="0">
                <a:solidFill>
                  <a:srgbClr val="333C4A"/>
                </a:solidFill>
                <a:latin typeface="Libre Baskerville Bold"/>
                <a:ea typeface="Libre Baskerville Bold"/>
                <a:cs typeface="Libre Baskerville Bold"/>
                <a:sym typeface="Libre Baskerville Bold"/>
              </a:rPr>
              <a:t>6. Conduct initial testing of all components to verify if the Raspberry Pi boots properly, the printer responds to print requests, the touchscreen displays the interface, the </a:t>
            </a:r>
            <a:r>
              <a:rPr lang="en-US" sz="3400" b="1" dirty="0" err="1">
                <a:solidFill>
                  <a:srgbClr val="333C4A"/>
                </a:solidFill>
                <a:latin typeface="Libre Baskerville Bold"/>
                <a:ea typeface="Libre Baskerville Bold"/>
                <a:cs typeface="Libre Baskerville Bold"/>
                <a:sym typeface="Libre Baskerville Bold"/>
              </a:rPr>
              <a:t>Xendit</a:t>
            </a:r>
            <a:r>
              <a:rPr lang="en-US" sz="3400" b="1" dirty="0">
                <a:solidFill>
                  <a:srgbClr val="333C4A"/>
                </a:solidFill>
                <a:latin typeface="Libre Baskerville Bold"/>
                <a:ea typeface="Libre Baskerville Bold"/>
                <a:cs typeface="Libre Baskerville Bold"/>
                <a:sym typeface="Libre Baskerville Bold"/>
              </a:rPr>
              <a:t> API detects payments, and the payment confirmation from </a:t>
            </a:r>
            <a:r>
              <a:rPr lang="en-US" sz="3400" b="1" dirty="0" err="1">
                <a:solidFill>
                  <a:srgbClr val="333C4A"/>
                </a:solidFill>
                <a:latin typeface="Libre Baskerville Bold"/>
                <a:ea typeface="Libre Baskerville Bold"/>
                <a:cs typeface="Libre Baskerville Bold"/>
                <a:sym typeface="Libre Baskerville Bold"/>
              </a:rPr>
              <a:t>GCash</a:t>
            </a:r>
            <a:r>
              <a:rPr lang="en-US" sz="3400" b="1" dirty="0">
                <a:solidFill>
                  <a:srgbClr val="333C4A"/>
                </a:solidFill>
                <a:latin typeface="Libre Baskerville Bold"/>
                <a:ea typeface="Libre Baskerville Bold"/>
                <a:cs typeface="Libre Baskerville Bold"/>
                <a:sym typeface="Libre Baskerville Bold"/>
              </a:rPr>
              <a:t> allows the print job to proceed.</a:t>
            </a:r>
          </a:p>
          <a:p>
            <a:pPr algn="l">
              <a:lnSpc>
                <a:spcPts val="4760"/>
              </a:lnSpc>
            </a:pPr>
            <a:r>
              <a:rPr lang="en-US" sz="3400" b="1" dirty="0">
                <a:solidFill>
                  <a:srgbClr val="333C4A"/>
                </a:solidFill>
                <a:latin typeface="Libre Baskerville Bold"/>
                <a:ea typeface="Libre Baskerville Bold"/>
                <a:cs typeface="Libre Baskerville Bold"/>
                <a:sym typeface="Libre Baskerville Bold"/>
              </a:rPr>
              <a:t>	</a:t>
            </a:r>
          </a:p>
          <a:p>
            <a:pPr algn="l">
              <a:lnSpc>
                <a:spcPts val="4760"/>
              </a:lnSpc>
            </a:pPr>
            <a:r>
              <a:rPr lang="en-US" sz="3400" b="1" dirty="0">
                <a:solidFill>
                  <a:srgbClr val="333C4A"/>
                </a:solidFill>
                <a:latin typeface="Libre Baskerville Bold"/>
                <a:ea typeface="Libre Baskerville Bold"/>
                <a:cs typeface="Libre Baskerville Bold"/>
                <a:sym typeface="Libre Baskerville Bold"/>
              </a:rPr>
              <a:t>7. Perform troubleshooting and final adjustments based on the test results. Retest the system to ensure complete functionality, safety, and reliability of the kiosk before deployment in the SKSU – </a:t>
            </a:r>
            <a:r>
              <a:rPr lang="en-US" sz="3400" b="1" dirty="0" err="1">
                <a:solidFill>
                  <a:srgbClr val="333C4A"/>
                </a:solidFill>
                <a:latin typeface="Libre Baskerville Bold"/>
                <a:ea typeface="Libre Baskerville Bold"/>
                <a:cs typeface="Libre Baskerville Bold"/>
                <a:sym typeface="Libre Baskerville Bold"/>
              </a:rPr>
              <a:t>Isulan</a:t>
            </a:r>
            <a:r>
              <a:rPr lang="en-US" sz="3400" b="1" dirty="0">
                <a:solidFill>
                  <a:srgbClr val="333C4A"/>
                </a:solidFill>
                <a:latin typeface="Libre Baskerville Bold"/>
                <a:ea typeface="Libre Baskerville Bold"/>
                <a:cs typeface="Libre Baskerville Bold"/>
                <a:sym typeface="Libre Baskerville Bold"/>
              </a:rPr>
              <a:t> Library.</a:t>
            </a:r>
          </a:p>
        </p:txBody>
      </p:sp>
      <p:sp>
        <p:nvSpPr>
          <p:cNvPr id="7" name="TextBox 7"/>
          <p:cNvSpPr txBox="1"/>
          <p:nvPr/>
        </p:nvSpPr>
        <p:spPr>
          <a:xfrm>
            <a:off x="2625902" y="1399053"/>
            <a:ext cx="8991810" cy="936612"/>
          </a:xfrm>
          <a:prstGeom prst="rect">
            <a:avLst/>
          </a:prstGeom>
        </p:spPr>
        <p:txBody>
          <a:bodyPr lIns="0" tIns="0" rIns="0" bIns="0" rtlCol="0" anchor="t">
            <a:spAutoFit/>
          </a:bodyPr>
          <a:lstStyle/>
          <a:p>
            <a:pPr algn="l">
              <a:lnSpc>
                <a:spcPts val="7700"/>
              </a:lnSpc>
            </a:pPr>
            <a:r>
              <a:rPr lang="en-US" sz="5500" b="1">
                <a:solidFill>
                  <a:srgbClr val="333C4A"/>
                </a:solidFill>
                <a:latin typeface="DM Sans Bold"/>
                <a:ea typeface="DM Sans Bold"/>
                <a:cs typeface="DM Sans Bold"/>
                <a:sym typeface="DM Sans Bold"/>
              </a:rPr>
              <a:t>Construction Procedures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8" name="Picture 7">
            <a:extLst>
              <a:ext uri="{FF2B5EF4-FFF2-40B4-BE49-F238E27FC236}">
                <a16:creationId xmlns:a16="http://schemas.microsoft.com/office/drawing/2014/main" id="{D529218B-FA8E-D1B6-E7F2-743A16534F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58000" y="266700"/>
            <a:ext cx="3124200" cy="9061154"/>
          </a:xfrm>
          <a:prstGeom prst="rect">
            <a:avLst/>
          </a:prstGeom>
        </p:spPr>
      </p:pic>
      <p:sp>
        <p:nvSpPr>
          <p:cNvPr id="11" name="TextBox 10">
            <a:extLst>
              <a:ext uri="{FF2B5EF4-FFF2-40B4-BE49-F238E27FC236}">
                <a16:creationId xmlns:a16="http://schemas.microsoft.com/office/drawing/2014/main" id="{037D35B0-E5AC-5829-74C0-BA460C6917C4}"/>
              </a:ext>
            </a:extLst>
          </p:cNvPr>
          <p:cNvSpPr txBox="1"/>
          <p:nvPr/>
        </p:nvSpPr>
        <p:spPr>
          <a:xfrm>
            <a:off x="6823881" y="9327854"/>
            <a:ext cx="3158319" cy="461665"/>
          </a:xfrm>
          <a:prstGeom prst="rect">
            <a:avLst/>
          </a:prstGeom>
          <a:solidFill>
            <a:schemeClr val="bg1"/>
          </a:solidFill>
        </p:spPr>
        <p:txBody>
          <a:bodyPr wrap="square" rtlCol="0">
            <a:spAutoFit/>
          </a:bodyPr>
          <a:lstStyle/>
          <a:p>
            <a:r>
              <a:rPr lang="en-PH" sz="2400" dirty="0"/>
              <a:t>Figure 7. Flow Chart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807292" y="968363"/>
            <a:ext cx="17082388" cy="3195319"/>
          </a:xfrm>
          <a:prstGeom prst="rect">
            <a:avLst/>
          </a:prstGeom>
        </p:spPr>
        <p:txBody>
          <a:bodyPr lIns="0" tIns="0" rIns="0" bIns="0" rtlCol="0" anchor="t">
            <a:spAutoFit/>
          </a:bodyPr>
          <a:lstStyle/>
          <a:p>
            <a:pPr algn="l">
              <a:lnSpc>
                <a:spcPts val="12880"/>
              </a:lnSpc>
            </a:pPr>
            <a:r>
              <a:rPr lang="en-US" sz="9200" b="1">
                <a:solidFill>
                  <a:srgbClr val="333C4A"/>
                </a:solidFill>
                <a:latin typeface="DM Sans Bold"/>
                <a:ea typeface="DM Sans Bold"/>
                <a:cs typeface="DM Sans Bold"/>
                <a:sym typeface="DM Sans Bold"/>
              </a:rPr>
              <a:t>Evaluation Methodology</a:t>
            </a:r>
          </a:p>
          <a:p>
            <a:pPr algn="l">
              <a:lnSpc>
                <a:spcPts val="12880"/>
              </a:lnSpc>
            </a:pPr>
            <a:endParaRPr lang="en-US" sz="9200" b="1">
              <a:solidFill>
                <a:srgbClr val="333C4A"/>
              </a:solidFill>
              <a:latin typeface="DM Sans Bold"/>
              <a:ea typeface="DM Sans Bold"/>
              <a:cs typeface="DM Sans Bold"/>
              <a:sym typeface="DM Sans Bold"/>
            </a:endParaRPr>
          </a:p>
        </p:txBody>
      </p:sp>
      <p:sp>
        <p:nvSpPr>
          <p:cNvPr id="6" name="TextBox 6"/>
          <p:cNvSpPr txBox="1"/>
          <p:nvPr/>
        </p:nvSpPr>
        <p:spPr>
          <a:xfrm>
            <a:off x="1697465" y="2387604"/>
            <a:ext cx="13140931" cy="7762240"/>
          </a:xfrm>
          <a:prstGeom prst="rect">
            <a:avLst/>
          </a:prstGeom>
        </p:spPr>
        <p:txBody>
          <a:bodyPr lIns="0" tIns="0" rIns="0" bIns="0" rtlCol="0" anchor="t">
            <a:spAutoFit/>
          </a:bodyPr>
          <a:lstStyle/>
          <a:p>
            <a:pPr marL="1057909" lvl="1" indent="-528955" algn="l">
              <a:lnSpc>
                <a:spcPts val="6859"/>
              </a:lnSpc>
              <a:buFont typeface="Arial"/>
              <a:buChar char="•"/>
            </a:pPr>
            <a:r>
              <a:rPr lang="en-US" sz="4899" dirty="0">
                <a:solidFill>
                  <a:srgbClr val="333C4A"/>
                </a:solidFill>
                <a:latin typeface="Libre Baskerville"/>
                <a:ea typeface="Libre Baskerville"/>
                <a:cs typeface="Libre Baskerville"/>
                <a:sym typeface="Libre Baskerville"/>
              </a:rPr>
              <a:t>Research Design</a:t>
            </a:r>
          </a:p>
          <a:p>
            <a:pPr marL="1057909" lvl="1" indent="-528955" algn="l">
              <a:lnSpc>
                <a:spcPts val="6859"/>
              </a:lnSpc>
              <a:buFont typeface="Arial"/>
              <a:buChar char="•"/>
            </a:pPr>
            <a:r>
              <a:rPr lang="en-US" sz="4899" dirty="0">
                <a:solidFill>
                  <a:srgbClr val="333C4A"/>
                </a:solidFill>
                <a:latin typeface="Libre Baskerville"/>
                <a:ea typeface="Libre Baskerville"/>
                <a:cs typeface="Libre Baskerville"/>
                <a:sym typeface="Libre Baskerville"/>
              </a:rPr>
              <a:t>Locale of the Study            </a:t>
            </a:r>
          </a:p>
          <a:p>
            <a:pPr marL="1057909" lvl="1" indent="-528955" algn="l">
              <a:lnSpc>
                <a:spcPts val="6859"/>
              </a:lnSpc>
              <a:buFont typeface="Arial"/>
              <a:buChar char="•"/>
            </a:pPr>
            <a:r>
              <a:rPr lang="en-US" sz="4899" dirty="0">
                <a:solidFill>
                  <a:srgbClr val="333C4A"/>
                </a:solidFill>
                <a:latin typeface="Libre Baskerville"/>
                <a:ea typeface="Libre Baskerville"/>
                <a:cs typeface="Libre Baskerville"/>
                <a:sym typeface="Libre Baskerville"/>
              </a:rPr>
              <a:t>Methods of Research</a:t>
            </a:r>
          </a:p>
          <a:p>
            <a:pPr marL="1057909" lvl="1" indent="-528955" algn="l">
              <a:lnSpc>
                <a:spcPts val="6859"/>
              </a:lnSpc>
              <a:buFont typeface="Arial"/>
              <a:buChar char="•"/>
            </a:pPr>
            <a:r>
              <a:rPr lang="en-US" sz="4899" dirty="0">
                <a:solidFill>
                  <a:srgbClr val="333C4A"/>
                </a:solidFill>
                <a:latin typeface="Libre Baskerville"/>
                <a:ea typeface="Libre Baskerville"/>
                <a:cs typeface="Libre Baskerville"/>
                <a:sym typeface="Libre Baskerville"/>
              </a:rPr>
              <a:t>Respondent of the Study</a:t>
            </a:r>
          </a:p>
          <a:p>
            <a:pPr marL="1057909" lvl="1" indent="-528955" algn="l">
              <a:lnSpc>
                <a:spcPts val="6859"/>
              </a:lnSpc>
              <a:buFont typeface="Arial"/>
              <a:buChar char="•"/>
            </a:pPr>
            <a:r>
              <a:rPr lang="en-US" sz="4899" dirty="0">
                <a:solidFill>
                  <a:srgbClr val="333C4A"/>
                </a:solidFill>
                <a:latin typeface="Libre Baskerville"/>
                <a:ea typeface="Libre Baskerville"/>
                <a:cs typeface="Libre Baskerville"/>
                <a:sym typeface="Libre Baskerville"/>
              </a:rPr>
              <a:t>Sampling Procedure</a:t>
            </a:r>
          </a:p>
          <a:p>
            <a:pPr marL="1057909" lvl="1" indent="-528955" algn="l">
              <a:lnSpc>
                <a:spcPts val="6859"/>
              </a:lnSpc>
              <a:buFont typeface="Arial"/>
              <a:buChar char="•"/>
            </a:pPr>
            <a:r>
              <a:rPr lang="en-US" sz="4899" dirty="0">
                <a:solidFill>
                  <a:srgbClr val="333C4A"/>
                </a:solidFill>
                <a:latin typeface="Libre Baskerville"/>
                <a:ea typeface="Libre Baskerville"/>
                <a:cs typeface="Libre Baskerville"/>
                <a:sym typeface="Libre Baskerville"/>
              </a:rPr>
              <a:t>Data Gathering Procedures</a:t>
            </a:r>
          </a:p>
          <a:p>
            <a:pPr marL="1057909" lvl="1" indent="-528955" algn="l">
              <a:lnSpc>
                <a:spcPts val="6859"/>
              </a:lnSpc>
              <a:buFont typeface="Arial"/>
              <a:buChar char="•"/>
            </a:pPr>
            <a:r>
              <a:rPr lang="en-US" sz="4899" dirty="0">
                <a:solidFill>
                  <a:srgbClr val="333C4A"/>
                </a:solidFill>
                <a:latin typeface="Libre Baskerville"/>
                <a:ea typeface="Libre Baskerville"/>
                <a:cs typeface="Libre Baskerville"/>
                <a:sym typeface="Libre Baskerville"/>
              </a:rPr>
              <a:t>Data Gathering Instruments</a:t>
            </a:r>
          </a:p>
          <a:p>
            <a:pPr marL="1057909" lvl="1" indent="-528955" algn="l">
              <a:lnSpc>
                <a:spcPts val="6859"/>
              </a:lnSpc>
              <a:buFont typeface="Arial"/>
              <a:buChar char="•"/>
            </a:pPr>
            <a:r>
              <a:rPr lang="en-US" sz="4899" dirty="0">
                <a:solidFill>
                  <a:srgbClr val="333C4A"/>
                </a:solidFill>
                <a:latin typeface="Libre Baskerville"/>
                <a:ea typeface="Libre Baskerville"/>
                <a:cs typeface="Libre Baskerville"/>
                <a:sym typeface="Libre Baskerville"/>
              </a:rPr>
              <a:t>Statistical Tools and Treatment of Data</a:t>
            </a:r>
          </a:p>
        </p:txBody>
      </p:sp>
      <p:sp>
        <p:nvSpPr>
          <p:cNvPr id="7" name="Freeform 7"/>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358712" y="2357403"/>
            <a:ext cx="16016913" cy="6554469"/>
          </a:xfrm>
          <a:prstGeom prst="rect">
            <a:avLst/>
          </a:prstGeom>
        </p:spPr>
        <p:txBody>
          <a:bodyPr lIns="0" tIns="0" rIns="0" bIns="0" rtlCol="0" anchor="t">
            <a:spAutoFit/>
          </a:bodyPr>
          <a:lstStyle/>
          <a:p>
            <a:pPr marL="798836" lvl="1" indent="-399418" algn="l">
              <a:lnSpc>
                <a:spcPts val="5180"/>
              </a:lnSpc>
              <a:buFont typeface="Arial"/>
              <a:buChar char="•"/>
            </a:pPr>
            <a:r>
              <a:rPr lang="en-US" sz="3700" b="1">
                <a:solidFill>
                  <a:srgbClr val="333C4A"/>
                </a:solidFill>
                <a:latin typeface="Libre Baskerville Bold"/>
                <a:ea typeface="Libre Baskerville Bold"/>
                <a:cs typeface="Libre Baskerville Bold"/>
                <a:sym typeface="Libre Baskerville Bold"/>
              </a:rPr>
              <a:t>The type of method that was used for this study was descriptive research. </a:t>
            </a:r>
          </a:p>
          <a:p>
            <a:pPr algn="l">
              <a:lnSpc>
                <a:spcPts val="5180"/>
              </a:lnSpc>
            </a:pPr>
            <a:endParaRPr lang="en-US" sz="3700" b="1">
              <a:solidFill>
                <a:srgbClr val="333C4A"/>
              </a:solidFill>
              <a:latin typeface="Libre Baskerville Bold"/>
              <a:ea typeface="Libre Baskerville Bold"/>
              <a:cs typeface="Libre Baskerville Bold"/>
              <a:sym typeface="Libre Baskerville Bold"/>
            </a:endParaRPr>
          </a:p>
          <a:p>
            <a:pPr marL="798836" lvl="1" indent="-399418" algn="l">
              <a:lnSpc>
                <a:spcPts val="5180"/>
              </a:lnSpc>
              <a:buFont typeface="Arial"/>
              <a:buChar char="•"/>
            </a:pPr>
            <a:r>
              <a:rPr lang="en-US" sz="3700" b="1">
                <a:solidFill>
                  <a:srgbClr val="333C4A"/>
                </a:solidFill>
                <a:latin typeface="Libre Baskerville Bold"/>
                <a:ea typeface="Libre Baskerville Bold"/>
                <a:cs typeface="Libre Baskerville Bold"/>
                <a:sym typeface="Libre Baskerville Bold"/>
              </a:rPr>
              <a:t>The researchers are required to gather information from the respondents by providing a questionnaire for evaluation of the study.</a:t>
            </a:r>
          </a:p>
          <a:p>
            <a:pPr algn="l">
              <a:lnSpc>
                <a:spcPts val="5180"/>
              </a:lnSpc>
            </a:pPr>
            <a:endParaRPr lang="en-US" sz="3700" b="1">
              <a:solidFill>
                <a:srgbClr val="333C4A"/>
              </a:solidFill>
              <a:latin typeface="Libre Baskerville Bold"/>
              <a:ea typeface="Libre Baskerville Bold"/>
              <a:cs typeface="Libre Baskerville Bold"/>
              <a:sym typeface="Libre Baskerville Bold"/>
            </a:endParaRPr>
          </a:p>
          <a:p>
            <a:pPr marL="798836" lvl="1" indent="-399418" algn="l">
              <a:lnSpc>
                <a:spcPts val="5180"/>
              </a:lnSpc>
              <a:buFont typeface="Arial"/>
              <a:buChar char="•"/>
            </a:pPr>
            <a:r>
              <a:rPr lang="en-US" sz="3700" b="1">
                <a:solidFill>
                  <a:srgbClr val="333C4A"/>
                </a:solidFill>
                <a:latin typeface="Libre Baskerville Bold"/>
                <a:ea typeface="Libre Baskerville Bold"/>
                <a:cs typeface="Libre Baskerville Bold"/>
                <a:sym typeface="Libre Baskerville Bold"/>
              </a:rPr>
              <a:t> The questions from the questionnaire evaluate the functionality, reliability and user convenience of the self-service printing kiosk.</a:t>
            </a:r>
          </a:p>
        </p:txBody>
      </p:sp>
      <p:sp>
        <p:nvSpPr>
          <p:cNvPr id="7" name="TextBox 7"/>
          <p:cNvSpPr txBox="1"/>
          <p:nvPr/>
        </p:nvSpPr>
        <p:spPr>
          <a:xfrm>
            <a:off x="2973687" y="580592"/>
            <a:ext cx="8991810" cy="1127748"/>
          </a:xfrm>
          <a:prstGeom prst="rect">
            <a:avLst/>
          </a:prstGeom>
        </p:spPr>
        <p:txBody>
          <a:bodyPr lIns="0" tIns="0" rIns="0" bIns="0" rtlCol="0" anchor="t">
            <a:spAutoFit/>
          </a:bodyPr>
          <a:lstStyle/>
          <a:p>
            <a:pPr algn="l">
              <a:lnSpc>
                <a:spcPts val="9240"/>
              </a:lnSpc>
            </a:pPr>
            <a:r>
              <a:rPr lang="en-US" sz="6600" b="1">
                <a:solidFill>
                  <a:srgbClr val="333C4A"/>
                </a:solidFill>
                <a:latin typeface="DM Sans Bold"/>
                <a:ea typeface="DM Sans Bold"/>
                <a:cs typeface="DM Sans Bold"/>
                <a:sym typeface="DM Sans Bold"/>
              </a:rPr>
              <a:t>Research Design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3155355" y="704417"/>
            <a:ext cx="12050884" cy="8932718"/>
          </a:xfrm>
          <a:custGeom>
            <a:avLst/>
            <a:gdLst/>
            <a:ahLst/>
            <a:cxnLst/>
            <a:rect l="l" t="t" r="r" b="b"/>
            <a:pathLst>
              <a:path w="12050884" h="8932718">
                <a:moveTo>
                  <a:pt x="0" y="0"/>
                </a:moveTo>
                <a:lnTo>
                  <a:pt x="12050884" y="0"/>
                </a:lnTo>
                <a:lnTo>
                  <a:pt x="12050884" y="8932718"/>
                </a:lnTo>
                <a:lnTo>
                  <a:pt x="0" y="8932718"/>
                </a:lnTo>
                <a:lnTo>
                  <a:pt x="0" y="0"/>
                </a:lnTo>
                <a:close/>
              </a:path>
            </a:pathLst>
          </a:custGeom>
          <a:blipFill>
            <a:blip r:embed="rId6"/>
            <a:stretch>
              <a:fillRect/>
            </a:stretch>
          </a:blipFill>
        </p:spPr>
      </p:sp>
      <p:sp>
        <p:nvSpPr>
          <p:cNvPr id="7" name="TextBox 7"/>
          <p:cNvSpPr txBox="1"/>
          <p:nvPr/>
        </p:nvSpPr>
        <p:spPr>
          <a:xfrm>
            <a:off x="3433911" y="-104775"/>
            <a:ext cx="6697623" cy="936612"/>
          </a:xfrm>
          <a:prstGeom prst="rect">
            <a:avLst/>
          </a:prstGeom>
        </p:spPr>
        <p:txBody>
          <a:bodyPr lIns="0" tIns="0" rIns="0" bIns="0" rtlCol="0" anchor="t">
            <a:spAutoFit/>
          </a:bodyPr>
          <a:lstStyle/>
          <a:p>
            <a:pPr algn="ctr">
              <a:lnSpc>
                <a:spcPts val="7700"/>
              </a:lnSpc>
              <a:spcBef>
                <a:spcPct val="0"/>
              </a:spcBef>
            </a:pPr>
            <a:r>
              <a:rPr lang="en-US" sz="5500" b="1">
                <a:solidFill>
                  <a:srgbClr val="000000"/>
                </a:solidFill>
                <a:latin typeface="DM Sans Bold"/>
                <a:ea typeface="DM Sans Bold"/>
                <a:cs typeface="DM Sans Bold"/>
                <a:sym typeface="DM Sans Bold"/>
              </a:rPr>
              <a:t>Locale of the Study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358712" y="2376453"/>
            <a:ext cx="16016913" cy="6719570"/>
          </a:xfrm>
          <a:prstGeom prst="rect">
            <a:avLst/>
          </a:prstGeom>
        </p:spPr>
        <p:txBody>
          <a:bodyPr lIns="0" tIns="0" rIns="0" bIns="0" rtlCol="0" anchor="t">
            <a:spAutoFit/>
          </a:bodyPr>
          <a:lstStyle/>
          <a:p>
            <a:pPr marL="690881" lvl="1" indent="-345440" algn="l">
              <a:lnSpc>
                <a:spcPts val="4480"/>
              </a:lnSpc>
              <a:buFont typeface="Arial"/>
              <a:buChar char="•"/>
            </a:pPr>
            <a:r>
              <a:rPr lang="en-US" sz="3200" b="1">
                <a:solidFill>
                  <a:srgbClr val="333C4A"/>
                </a:solidFill>
                <a:latin typeface="Libre Baskerville Bold"/>
                <a:ea typeface="Libre Baskerville Bold"/>
                <a:cs typeface="Libre Baskerville Bold"/>
                <a:sym typeface="Libre Baskerville Bold"/>
              </a:rPr>
              <a:t>A descriptive survey will be used. </a:t>
            </a:r>
          </a:p>
          <a:p>
            <a:pPr algn="l">
              <a:lnSpc>
                <a:spcPts val="4480"/>
              </a:lnSpc>
            </a:pPr>
            <a:endParaRPr lang="en-US" sz="3200" b="1">
              <a:solidFill>
                <a:srgbClr val="333C4A"/>
              </a:solidFill>
              <a:latin typeface="Libre Baskerville Bold"/>
              <a:ea typeface="Libre Baskerville Bold"/>
              <a:cs typeface="Libre Baskerville Bold"/>
              <a:sym typeface="Libre Baskerville Bold"/>
            </a:endParaRPr>
          </a:p>
          <a:p>
            <a:pPr marL="690881" lvl="1" indent="-345440" algn="l">
              <a:lnSpc>
                <a:spcPts val="4480"/>
              </a:lnSpc>
              <a:buFont typeface="Arial"/>
              <a:buChar char="•"/>
            </a:pPr>
            <a:r>
              <a:rPr lang="en-US" sz="3200" b="1">
                <a:solidFill>
                  <a:srgbClr val="333C4A"/>
                </a:solidFill>
                <a:latin typeface="Libre Baskerville Bold"/>
                <a:ea typeface="Libre Baskerville Bold"/>
                <a:cs typeface="Libre Baskerville Bold"/>
                <a:sym typeface="Libre Baskerville Bold"/>
              </a:rPr>
              <a:t>The creation of a study questionnaire is the first action taken by researchers. </a:t>
            </a:r>
          </a:p>
          <a:p>
            <a:pPr algn="l">
              <a:lnSpc>
                <a:spcPts val="4480"/>
              </a:lnSpc>
            </a:pPr>
            <a:endParaRPr lang="en-US" sz="3200" b="1">
              <a:solidFill>
                <a:srgbClr val="333C4A"/>
              </a:solidFill>
              <a:latin typeface="Libre Baskerville Bold"/>
              <a:ea typeface="Libre Baskerville Bold"/>
              <a:cs typeface="Libre Baskerville Bold"/>
              <a:sym typeface="Libre Baskerville Bold"/>
            </a:endParaRPr>
          </a:p>
          <a:p>
            <a:pPr marL="690881" lvl="1" indent="-345440" algn="l">
              <a:lnSpc>
                <a:spcPts val="4480"/>
              </a:lnSpc>
              <a:buFont typeface="Arial"/>
              <a:buChar char="•"/>
            </a:pPr>
            <a:r>
              <a:rPr lang="en-US" sz="3200" b="1">
                <a:solidFill>
                  <a:srgbClr val="333C4A"/>
                </a:solidFill>
                <a:latin typeface="Libre Baskerville Bold"/>
                <a:ea typeface="Libre Baskerville Bold"/>
                <a:cs typeface="Libre Baskerville Bold"/>
                <a:sym typeface="Libre Baskerville Bold"/>
              </a:rPr>
              <a:t>After the questionnaire has been created and distributed to respondents, the self-service printing kiosk are evaluated. </a:t>
            </a:r>
          </a:p>
          <a:p>
            <a:pPr algn="l">
              <a:lnSpc>
                <a:spcPts val="4480"/>
              </a:lnSpc>
            </a:pPr>
            <a:endParaRPr lang="en-US" sz="3200" b="1">
              <a:solidFill>
                <a:srgbClr val="333C4A"/>
              </a:solidFill>
              <a:latin typeface="Libre Baskerville Bold"/>
              <a:ea typeface="Libre Baskerville Bold"/>
              <a:cs typeface="Libre Baskerville Bold"/>
              <a:sym typeface="Libre Baskerville Bold"/>
            </a:endParaRPr>
          </a:p>
          <a:p>
            <a:pPr marL="690881" lvl="1" indent="-345440" algn="l">
              <a:lnSpc>
                <a:spcPts val="4480"/>
              </a:lnSpc>
              <a:buFont typeface="Arial"/>
              <a:buChar char="•"/>
            </a:pPr>
            <a:r>
              <a:rPr lang="en-US" sz="3200" b="1">
                <a:solidFill>
                  <a:srgbClr val="333C4A"/>
                </a:solidFill>
                <a:latin typeface="Libre Baskerville Bold"/>
                <a:ea typeface="Libre Baskerville Bold"/>
                <a:cs typeface="Libre Baskerville Bold"/>
                <a:sym typeface="Libre Baskerville Bold"/>
              </a:rPr>
              <a:t>In the descriptive survey that was conducted, which will serve as the foundation for determining how reliable, effective and efficient the said system is, the respondents' perspectives, experiences, and views regarding the mobile application built are addressed.</a:t>
            </a:r>
          </a:p>
        </p:txBody>
      </p:sp>
      <p:sp>
        <p:nvSpPr>
          <p:cNvPr id="7" name="TextBox 7"/>
          <p:cNvSpPr txBox="1"/>
          <p:nvPr/>
        </p:nvSpPr>
        <p:spPr>
          <a:xfrm>
            <a:off x="2973687" y="580592"/>
            <a:ext cx="8991810" cy="1127748"/>
          </a:xfrm>
          <a:prstGeom prst="rect">
            <a:avLst/>
          </a:prstGeom>
        </p:spPr>
        <p:txBody>
          <a:bodyPr lIns="0" tIns="0" rIns="0" bIns="0" rtlCol="0" anchor="t">
            <a:spAutoFit/>
          </a:bodyPr>
          <a:lstStyle/>
          <a:p>
            <a:pPr algn="l">
              <a:lnSpc>
                <a:spcPts val="9240"/>
              </a:lnSpc>
            </a:pPr>
            <a:r>
              <a:rPr lang="en-US" sz="6600" b="1">
                <a:solidFill>
                  <a:srgbClr val="333C4A"/>
                </a:solidFill>
                <a:latin typeface="DM Sans Bold"/>
                <a:ea typeface="DM Sans Bold"/>
                <a:cs typeface="DM Sans Bold"/>
                <a:sym typeface="DM Sans Bold"/>
              </a:rPr>
              <a:t>Methods of Research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358712" y="2347878"/>
            <a:ext cx="16016913" cy="4719177"/>
          </a:xfrm>
          <a:prstGeom prst="rect">
            <a:avLst/>
          </a:prstGeom>
        </p:spPr>
        <p:txBody>
          <a:bodyPr lIns="0" tIns="0" rIns="0" bIns="0" rtlCol="0" anchor="t">
            <a:spAutoFit/>
          </a:bodyPr>
          <a:lstStyle/>
          <a:p>
            <a:pPr marL="949962" lvl="1" indent="-474981" algn="l">
              <a:lnSpc>
                <a:spcPts val="6160"/>
              </a:lnSpc>
              <a:buFont typeface="Arial"/>
              <a:buChar char="•"/>
            </a:pPr>
            <a:r>
              <a:rPr lang="en-US" sz="4400" b="1" dirty="0">
                <a:solidFill>
                  <a:srgbClr val="333C4A"/>
                </a:solidFill>
                <a:latin typeface="Libre Baskerville Bold"/>
                <a:ea typeface="Libre Baskerville Bold"/>
                <a:cs typeface="Libre Baskerville Bold"/>
                <a:sym typeface="Libre Baskerville Bold"/>
              </a:rPr>
              <a:t>Students, faculty members, and staff of Sultan Kudarat State University – </a:t>
            </a:r>
            <a:r>
              <a:rPr lang="en-US" sz="4400" b="1" dirty="0" err="1">
                <a:solidFill>
                  <a:srgbClr val="333C4A"/>
                </a:solidFill>
                <a:latin typeface="Libre Baskerville Bold"/>
                <a:ea typeface="Libre Baskerville Bold"/>
                <a:cs typeface="Libre Baskerville Bold"/>
                <a:sym typeface="Libre Baskerville Bold"/>
              </a:rPr>
              <a:t>Isulan</a:t>
            </a:r>
            <a:r>
              <a:rPr lang="en-US" sz="4400" b="1" dirty="0">
                <a:solidFill>
                  <a:srgbClr val="333C4A"/>
                </a:solidFill>
                <a:latin typeface="Libre Baskerville Bold"/>
                <a:ea typeface="Libre Baskerville Bold"/>
                <a:cs typeface="Libre Baskerville Bold"/>
                <a:sym typeface="Libre Baskerville Bold"/>
              </a:rPr>
              <a:t> Campus, who are regular users of the university library and its facilities.</a:t>
            </a:r>
          </a:p>
          <a:p>
            <a:pPr algn="l">
              <a:lnSpc>
                <a:spcPts val="6160"/>
              </a:lnSpc>
            </a:pPr>
            <a:endParaRPr lang="en-US" sz="4400" b="1" dirty="0">
              <a:solidFill>
                <a:srgbClr val="333C4A"/>
              </a:solidFill>
              <a:latin typeface="Libre Baskerville Bold"/>
              <a:ea typeface="Libre Baskerville Bold"/>
              <a:cs typeface="Libre Baskerville Bold"/>
              <a:sym typeface="Libre Baskerville Bold"/>
            </a:endParaRPr>
          </a:p>
          <a:p>
            <a:pPr marL="949962" lvl="1" indent="-474981" algn="l">
              <a:lnSpc>
                <a:spcPts val="6160"/>
              </a:lnSpc>
              <a:buFont typeface="Arial"/>
              <a:buChar char="•"/>
            </a:pPr>
            <a:r>
              <a:rPr lang="en-US" sz="4400" b="1" dirty="0">
                <a:solidFill>
                  <a:srgbClr val="333C4A"/>
                </a:solidFill>
                <a:latin typeface="Libre Baskerville Bold"/>
                <a:ea typeface="Libre Baskerville Bold"/>
                <a:cs typeface="Libre Baskerville Bold"/>
                <a:sym typeface="Libre Baskerville Bold"/>
              </a:rPr>
              <a:t>total of two hundred (200) respondents </a:t>
            </a:r>
          </a:p>
        </p:txBody>
      </p:sp>
      <p:sp>
        <p:nvSpPr>
          <p:cNvPr id="7" name="TextBox 7"/>
          <p:cNvSpPr txBox="1"/>
          <p:nvPr/>
        </p:nvSpPr>
        <p:spPr>
          <a:xfrm>
            <a:off x="2973687" y="580592"/>
            <a:ext cx="11078520" cy="1127748"/>
          </a:xfrm>
          <a:prstGeom prst="rect">
            <a:avLst/>
          </a:prstGeom>
        </p:spPr>
        <p:txBody>
          <a:bodyPr lIns="0" tIns="0" rIns="0" bIns="0" rtlCol="0" anchor="t">
            <a:spAutoFit/>
          </a:bodyPr>
          <a:lstStyle/>
          <a:p>
            <a:pPr algn="l">
              <a:lnSpc>
                <a:spcPts val="9240"/>
              </a:lnSpc>
            </a:pPr>
            <a:r>
              <a:rPr lang="en-US" sz="6600" b="1">
                <a:solidFill>
                  <a:srgbClr val="333C4A"/>
                </a:solidFill>
                <a:latin typeface="DM Sans Bold"/>
                <a:ea typeface="DM Sans Bold"/>
                <a:cs typeface="DM Sans Bold"/>
                <a:sym typeface="DM Sans Bold"/>
              </a:rPr>
              <a:t>Respondents of the Study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358712" y="2357403"/>
            <a:ext cx="16016913" cy="6754157"/>
          </a:xfrm>
          <a:prstGeom prst="rect">
            <a:avLst/>
          </a:prstGeom>
        </p:spPr>
        <p:txBody>
          <a:bodyPr lIns="0" tIns="0" rIns="0" bIns="0" rtlCol="0" anchor="t">
            <a:spAutoFit/>
          </a:bodyPr>
          <a:lstStyle/>
          <a:p>
            <a:pPr algn="l">
              <a:lnSpc>
                <a:spcPts val="5320"/>
              </a:lnSpc>
            </a:pPr>
            <a:r>
              <a:rPr lang="en-US" sz="3800" b="1" dirty="0">
                <a:solidFill>
                  <a:srgbClr val="333C4A"/>
                </a:solidFill>
                <a:latin typeface="Libre Baskerville Bold"/>
                <a:ea typeface="Libre Baskerville Bold"/>
                <a:cs typeface="Libre Baskerville Bold"/>
                <a:sym typeface="Libre Baskerville Bold"/>
              </a:rPr>
              <a:t>1. Prepare the web application and administrator website for evaluation. </a:t>
            </a:r>
          </a:p>
          <a:p>
            <a:pPr algn="l">
              <a:lnSpc>
                <a:spcPts val="5320"/>
              </a:lnSpc>
            </a:pPr>
            <a:endParaRPr lang="en-US" sz="3800" b="1" dirty="0">
              <a:solidFill>
                <a:srgbClr val="333C4A"/>
              </a:solidFill>
              <a:latin typeface="Libre Baskerville Bold"/>
              <a:ea typeface="Libre Baskerville Bold"/>
              <a:cs typeface="Libre Baskerville Bold"/>
              <a:sym typeface="Libre Baskerville Bold"/>
            </a:endParaRPr>
          </a:p>
          <a:p>
            <a:pPr algn="l">
              <a:lnSpc>
                <a:spcPts val="5320"/>
              </a:lnSpc>
            </a:pPr>
            <a:r>
              <a:rPr lang="en-US" sz="3800" b="1" dirty="0">
                <a:solidFill>
                  <a:srgbClr val="333C4A"/>
                </a:solidFill>
                <a:latin typeface="Libre Baskerville Bold"/>
                <a:ea typeface="Libre Baskerville Bold"/>
                <a:cs typeface="Libre Baskerville Bold"/>
                <a:sym typeface="Libre Baskerville Bold"/>
              </a:rPr>
              <a:t>2. Making research questionnaire. </a:t>
            </a:r>
          </a:p>
          <a:p>
            <a:pPr algn="l">
              <a:lnSpc>
                <a:spcPts val="5320"/>
              </a:lnSpc>
            </a:pPr>
            <a:endParaRPr lang="en-US" sz="3800" b="1" dirty="0">
              <a:solidFill>
                <a:srgbClr val="333C4A"/>
              </a:solidFill>
              <a:latin typeface="Libre Baskerville Bold"/>
              <a:ea typeface="Libre Baskerville Bold"/>
              <a:cs typeface="Libre Baskerville Bold"/>
              <a:sym typeface="Libre Baskerville Bold"/>
            </a:endParaRPr>
          </a:p>
          <a:p>
            <a:pPr algn="l">
              <a:lnSpc>
                <a:spcPts val="5320"/>
              </a:lnSpc>
            </a:pPr>
            <a:r>
              <a:rPr lang="en-US" sz="3800" b="1" dirty="0">
                <a:solidFill>
                  <a:srgbClr val="333C4A"/>
                </a:solidFill>
                <a:latin typeface="Libre Baskerville Bold"/>
                <a:ea typeface="Libre Baskerville Bold"/>
                <a:cs typeface="Libre Baskerville Bold"/>
                <a:sym typeface="Libre Baskerville Bold"/>
              </a:rPr>
              <a:t>3. Finalization of the questionnaire. </a:t>
            </a:r>
          </a:p>
          <a:p>
            <a:pPr algn="l">
              <a:lnSpc>
                <a:spcPts val="5320"/>
              </a:lnSpc>
            </a:pPr>
            <a:endParaRPr lang="en-US" sz="3800" b="1" dirty="0">
              <a:solidFill>
                <a:srgbClr val="333C4A"/>
              </a:solidFill>
              <a:latin typeface="Libre Baskerville Bold"/>
              <a:ea typeface="Libre Baskerville Bold"/>
              <a:cs typeface="Libre Baskerville Bold"/>
              <a:sym typeface="Libre Baskerville Bold"/>
            </a:endParaRPr>
          </a:p>
          <a:p>
            <a:pPr algn="l">
              <a:lnSpc>
                <a:spcPts val="5320"/>
              </a:lnSpc>
            </a:pPr>
            <a:r>
              <a:rPr lang="en-US" sz="3800" b="1" dirty="0">
                <a:solidFill>
                  <a:srgbClr val="333C4A"/>
                </a:solidFill>
                <a:latin typeface="Libre Baskerville Bold"/>
                <a:ea typeface="Libre Baskerville Bold"/>
                <a:cs typeface="Libre Baskerville Bold"/>
                <a:sym typeface="Libre Baskerville Bold"/>
              </a:rPr>
              <a:t>4. Distribution of questionnaire. </a:t>
            </a:r>
          </a:p>
          <a:p>
            <a:pPr algn="l">
              <a:lnSpc>
                <a:spcPts val="5320"/>
              </a:lnSpc>
            </a:pPr>
            <a:endParaRPr lang="en-US" sz="3800" b="1" dirty="0">
              <a:solidFill>
                <a:srgbClr val="333C4A"/>
              </a:solidFill>
              <a:latin typeface="Libre Baskerville Bold"/>
              <a:ea typeface="Libre Baskerville Bold"/>
              <a:cs typeface="Libre Baskerville Bold"/>
              <a:sym typeface="Libre Baskerville Bold"/>
            </a:endParaRPr>
          </a:p>
          <a:p>
            <a:pPr algn="l">
              <a:lnSpc>
                <a:spcPts val="5320"/>
              </a:lnSpc>
            </a:pPr>
            <a:r>
              <a:rPr lang="en-US" sz="3800" b="1" dirty="0">
                <a:solidFill>
                  <a:srgbClr val="333C4A"/>
                </a:solidFill>
                <a:latin typeface="Libre Baskerville Bold"/>
                <a:ea typeface="Libre Baskerville Bold"/>
                <a:cs typeface="Libre Baskerville Bold"/>
                <a:sym typeface="Libre Baskerville Bold"/>
              </a:rPr>
              <a:t>5. Testing and actual evaluation of the application.</a:t>
            </a:r>
          </a:p>
        </p:txBody>
      </p:sp>
      <p:sp>
        <p:nvSpPr>
          <p:cNvPr id="7" name="TextBox 7"/>
          <p:cNvSpPr txBox="1"/>
          <p:nvPr/>
        </p:nvSpPr>
        <p:spPr>
          <a:xfrm>
            <a:off x="2973687" y="580592"/>
            <a:ext cx="11645959" cy="1127748"/>
          </a:xfrm>
          <a:prstGeom prst="rect">
            <a:avLst/>
          </a:prstGeom>
        </p:spPr>
        <p:txBody>
          <a:bodyPr lIns="0" tIns="0" rIns="0" bIns="0" rtlCol="0" anchor="t">
            <a:spAutoFit/>
          </a:bodyPr>
          <a:lstStyle/>
          <a:p>
            <a:pPr algn="l">
              <a:lnSpc>
                <a:spcPts val="9240"/>
              </a:lnSpc>
            </a:pPr>
            <a:r>
              <a:rPr lang="en-US" sz="6600" b="1">
                <a:solidFill>
                  <a:srgbClr val="333C4A"/>
                </a:solidFill>
                <a:latin typeface="DM Sans Bold"/>
                <a:ea typeface="DM Sans Bold"/>
                <a:cs typeface="DM Sans Bold"/>
                <a:sym typeface="DM Sans Bold"/>
              </a:rPr>
              <a:t>Data Gathering Procedures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486844" y="1768215"/>
            <a:ext cx="16016913" cy="7868919"/>
          </a:xfrm>
          <a:prstGeom prst="rect">
            <a:avLst/>
          </a:prstGeom>
        </p:spPr>
        <p:txBody>
          <a:bodyPr lIns="0" tIns="0" rIns="0" bIns="0" rtlCol="0" anchor="t">
            <a:spAutoFit/>
          </a:bodyPr>
          <a:lstStyle/>
          <a:p>
            <a:pPr marL="798836" lvl="1" indent="-399418" algn="l">
              <a:lnSpc>
                <a:spcPts val="5180"/>
              </a:lnSpc>
              <a:buFont typeface="Arial"/>
              <a:buChar char="•"/>
            </a:pPr>
            <a:r>
              <a:rPr lang="en-US" sz="3700" b="1">
                <a:solidFill>
                  <a:srgbClr val="333C4A"/>
                </a:solidFill>
                <a:latin typeface="Libre Baskerville Bold"/>
                <a:ea typeface="Libre Baskerville Bold"/>
                <a:cs typeface="Libre Baskerville Bold"/>
                <a:sym typeface="Libre Baskerville Bold"/>
              </a:rPr>
              <a:t>This study used a survey questionnaire as the data-gathering instrument. </a:t>
            </a:r>
          </a:p>
          <a:p>
            <a:pPr algn="l">
              <a:lnSpc>
                <a:spcPts val="5180"/>
              </a:lnSpc>
            </a:pPr>
            <a:endParaRPr lang="en-US" sz="3700" b="1">
              <a:solidFill>
                <a:srgbClr val="333C4A"/>
              </a:solidFill>
              <a:latin typeface="Libre Baskerville Bold"/>
              <a:ea typeface="Libre Baskerville Bold"/>
              <a:cs typeface="Libre Baskerville Bold"/>
              <a:sym typeface="Libre Baskerville Bold"/>
            </a:endParaRPr>
          </a:p>
          <a:p>
            <a:pPr marL="798836" lvl="1" indent="-399418" algn="l">
              <a:lnSpc>
                <a:spcPts val="5180"/>
              </a:lnSpc>
              <a:buFont typeface="Arial"/>
              <a:buChar char="•"/>
            </a:pPr>
            <a:r>
              <a:rPr lang="en-US" sz="3700" b="1">
                <a:solidFill>
                  <a:srgbClr val="333C4A"/>
                </a:solidFill>
                <a:latin typeface="Libre Baskerville Bold"/>
                <a:ea typeface="Libre Baskerville Bold"/>
                <a:cs typeface="Libre Baskerville Bold"/>
                <a:sym typeface="Libre Baskerville Bold"/>
              </a:rPr>
              <a:t>The instrument was chosen since it is cost-effective and easy to manage. </a:t>
            </a:r>
          </a:p>
          <a:p>
            <a:pPr algn="l">
              <a:lnSpc>
                <a:spcPts val="5180"/>
              </a:lnSpc>
            </a:pPr>
            <a:endParaRPr lang="en-US" sz="3700" b="1">
              <a:solidFill>
                <a:srgbClr val="333C4A"/>
              </a:solidFill>
              <a:latin typeface="Libre Baskerville Bold"/>
              <a:ea typeface="Libre Baskerville Bold"/>
              <a:cs typeface="Libre Baskerville Bold"/>
              <a:sym typeface="Libre Baskerville Bold"/>
            </a:endParaRPr>
          </a:p>
          <a:p>
            <a:pPr marL="798836" lvl="1" indent="-399418" algn="l">
              <a:lnSpc>
                <a:spcPts val="5180"/>
              </a:lnSpc>
              <a:buFont typeface="Arial"/>
              <a:buChar char="•"/>
            </a:pPr>
            <a:r>
              <a:rPr lang="en-US" sz="3700" b="1">
                <a:solidFill>
                  <a:srgbClr val="333C4A"/>
                </a:solidFill>
                <a:latin typeface="Libre Baskerville Bold"/>
                <a:ea typeface="Libre Baskerville Bold"/>
                <a:cs typeface="Libre Baskerville Bold"/>
                <a:sym typeface="Libre Baskerville Bold"/>
              </a:rPr>
              <a:t>The questionnaire comprises related questions wherein the respondents will rate the self-service printing kiosk based on their experience. </a:t>
            </a:r>
          </a:p>
          <a:p>
            <a:pPr algn="l">
              <a:lnSpc>
                <a:spcPts val="5180"/>
              </a:lnSpc>
            </a:pPr>
            <a:endParaRPr lang="en-US" sz="3700" b="1">
              <a:solidFill>
                <a:srgbClr val="333C4A"/>
              </a:solidFill>
              <a:latin typeface="Libre Baskerville Bold"/>
              <a:ea typeface="Libre Baskerville Bold"/>
              <a:cs typeface="Libre Baskerville Bold"/>
              <a:sym typeface="Libre Baskerville Bold"/>
            </a:endParaRPr>
          </a:p>
          <a:p>
            <a:pPr marL="798836" lvl="1" indent="-399418" algn="l">
              <a:lnSpc>
                <a:spcPts val="5180"/>
              </a:lnSpc>
              <a:buFont typeface="Arial"/>
              <a:buChar char="•"/>
            </a:pPr>
            <a:r>
              <a:rPr lang="en-US" sz="3700" b="1">
                <a:solidFill>
                  <a:srgbClr val="333C4A"/>
                </a:solidFill>
                <a:latin typeface="Libre Baskerville Bold"/>
                <a:ea typeface="Libre Baskerville Bold"/>
                <a:cs typeface="Libre Baskerville Bold"/>
                <a:sym typeface="Libre Baskerville Bold"/>
              </a:rPr>
              <a:t>The researcher used a hard copy of the evaluation form to gather the data.</a:t>
            </a:r>
          </a:p>
        </p:txBody>
      </p:sp>
      <p:sp>
        <p:nvSpPr>
          <p:cNvPr id="7" name="TextBox 7"/>
          <p:cNvSpPr txBox="1"/>
          <p:nvPr/>
        </p:nvSpPr>
        <p:spPr>
          <a:xfrm>
            <a:off x="2973687" y="580592"/>
            <a:ext cx="11371392" cy="1127748"/>
          </a:xfrm>
          <a:prstGeom prst="rect">
            <a:avLst/>
          </a:prstGeom>
        </p:spPr>
        <p:txBody>
          <a:bodyPr lIns="0" tIns="0" rIns="0" bIns="0" rtlCol="0" anchor="t">
            <a:spAutoFit/>
          </a:bodyPr>
          <a:lstStyle/>
          <a:p>
            <a:pPr algn="l">
              <a:lnSpc>
                <a:spcPts val="9240"/>
              </a:lnSpc>
            </a:pPr>
            <a:r>
              <a:rPr lang="en-US" sz="6600" b="1">
                <a:solidFill>
                  <a:srgbClr val="333C4A"/>
                </a:solidFill>
                <a:latin typeface="DM Sans Bold"/>
                <a:ea typeface="DM Sans Bold"/>
                <a:cs typeface="DM Sans Bold"/>
                <a:sym typeface="DM Sans Bold"/>
              </a:rPr>
              <a:t>Data Gathering Instruments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8" name="Picture 7">
            <a:extLst>
              <a:ext uri="{FF2B5EF4-FFF2-40B4-BE49-F238E27FC236}">
                <a16:creationId xmlns:a16="http://schemas.microsoft.com/office/drawing/2014/main" id="{18020F46-DD40-15B5-781B-5863EC2E8198}"/>
              </a:ext>
            </a:extLst>
          </p:cNvPr>
          <p:cNvPicPr>
            <a:picLocks noChangeAspect="1"/>
          </p:cNvPicPr>
          <p:nvPr/>
        </p:nvPicPr>
        <p:blipFill>
          <a:blip r:embed="rId6"/>
          <a:stretch>
            <a:fillRect/>
          </a:stretch>
        </p:blipFill>
        <p:spPr>
          <a:xfrm>
            <a:off x="1955948" y="1562100"/>
            <a:ext cx="14249398" cy="77724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486844" y="435562"/>
            <a:ext cx="14698538" cy="9042392"/>
          </a:xfrm>
          <a:custGeom>
            <a:avLst/>
            <a:gdLst/>
            <a:ahLst/>
            <a:cxnLst/>
            <a:rect l="l" t="t" r="r" b="b"/>
            <a:pathLst>
              <a:path w="14698538" h="9042392">
                <a:moveTo>
                  <a:pt x="0" y="0"/>
                </a:moveTo>
                <a:lnTo>
                  <a:pt x="14698538" y="0"/>
                </a:lnTo>
                <a:lnTo>
                  <a:pt x="14698538" y="9042392"/>
                </a:lnTo>
                <a:lnTo>
                  <a:pt x="0" y="9042392"/>
                </a:lnTo>
                <a:lnTo>
                  <a:pt x="0" y="0"/>
                </a:lnTo>
                <a:close/>
              </a:path>
            </a:pathLst>
          </a:custGeom>
          <a:blipFill>
            <a:blip r:embed="rId6"/>
            <a:stretch>
              <a:fillRect/>
            </a:stretch>
          </a:blipFill>
        </p:spPr>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336359" y="534559"/>
            <a:ext cx="15108010" cy="9102576"/>
          </a:xfrm>
          <a:custGeom>
            <a:avLst/>
            <a:gdLst/>
            <a:ahLst/>
            <a:cxnLst/>
            <a:rect l="l" t="t" r="r" b="b"/>
            <a:pathLst>
              <a:path w="15108010" h="9102576">
                <a:moveTo>
                  <a:pt x="0" y="0"/>
                </a:moveTo>
                <a:lnTo>
                  <a:pt x="15108010" y="0"/>
                </a:lnTo>
                <a:lnTo>
                  <a:pt x="15108010" y="9102576"/>
                </a:lnTo>
                <a:lnTo>
                  <a:pt x="0" y="9102576"/>
                </a:lnTo>
                <a:lnTo>
                  <a:pt x="0" y="0"/>
                </a:lnTo>
                <a:close/>
              </a:path>
            </a:pathLst>
          </a:custGeom>
          <a:blipFill>
            <a:blip r:embed="rId6"/>
            <a:stretch>
              <a:fillRect/>
            </a:stretch>
          </a:blipFill>
        </p:spPr>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358712" y="2803715"/>
            <a:ext cx="16016913" cy="5240019"/>
          </a:xfrm>
          <a:prstGeom prst="rect">
            <a:avLst/>
          </a:prstGeom>
        </p:spPr>
        <p:txBody>
          <a:bodyPr lIns="0" tIns="0" rIns="0" bIns="0" rtlCol="0" anchor="t">
            <a:spAutoFit/>
          </a:bodyPr>
          <a:lstStyle/>
          <a:p>
            <a:pPr marL="798836" lvl="1" indent="-399418" algn="l">
              <a:lnSpc>
                <a:spcPts val="5180"/>
              </a:lnSpc>
              <a:buFont typeface="Arial"/>
              <a:buChar char="•"/>
            </a:pPr>
            <a:r>
              <a:rPr lang="en-US" sz="3700" b="1">
                <a:solidFill>
                  <a:srgbClr val="333C4A"/>
                </a:solidFill>
                <a:latin typeface="Libre Baskerville Bold"/>
                <a:ea typeface="Libre Baskerville Bold"/>
                <a:cs typeface="Libre Baskerville Bold"/>
                <a:sym typeface="Libre Baskerville Bold"/>
              </a:rPr>
              <a:t>Data analysis and interpretation were done using descriptive statistics such as the 5-point Likert Rating Scale. </a:t>
            </a:r>
          </a:p>
          <a:p>
            <a:pPr algn="l">
              <a:lnSpc>
                <a:spcPts val="5180"/>
              </a:lnSpc>
            </a:pPr>
            <a:endParaRPr lang="en-US" sz="3700" b="1">
              <a:solidFill>
                <a:srgbClr val="333C4A"/>
              </a:solidFill>
              <a:latin typeface="Libre Baskerville Bold"/>
              <a:ea typeface="Libre Baskerville Bold"/>
              <a:cs typeface="Libre Baskerville Bold"/>
              <a:sym typeface="Libre Baskerville Bold"/>
            </a:endParaRPr>
          </a:p>
          <a:p>
            <a:pPr marL="798836" lvl="1" indent="-399418" algn="l">
              <a:lnSpc>
                <a:spcPts val="5180"/>
              </a:lnSpc>
              <a:buFont typeface="Arial"/>
              <a:buChar char="•"/>
            </a:pPr>
            <a:r>
              <a:rPr lang="en-US" sz="3700" b="1">
                <a:solidFill>
                  <a:srgbClr val="333C4A"/>
                </a:solidFill>
                <a:latin typeface="Libre Baskerville Bold"/>
                <a:ea typeface="Libre Baskerville Bold"/>
                <a:cs typeface="Libre Baskerville Bold"/>
                <a:sym typeface="Libre Baskerville Bold"/>
              </a:rPr>
              <a:t>The 5-point Likert Rating Scale was statistically treated to determine the application's functionality, reliability, and user convenience. </a:t>
            </a:r>
          </a:p>
          <a:p>
            <a:pPr algn="l">
              <a:lnSpc>
                <a:spcPts val="5180"/>
              </a:lnSpc>
            </a:pPr>
            <a:endParaRPr lang="en-US" sz="3700" b="1">
              <a:solidFill>
                <a:srgbClr val="333C4A"/>
              </a:solidFill>
              <a:latin typeface="Libre Baskerville Bold"/>
              <a:ea typeface="Libre Baskerville Bold"/>
              <a:cs typeface="Libre Baskerville Bold"/>
              <a:sym typeface="Libre Baskerville Bold"/>
            </a:endParaRPr>
          </a:p>
          <a:p>
            <a:pPr marL="798836" lvl="1" indent="-399418" algn="l">
              <a:lnSpc>
                <a:spcPts val="5180"/>
              </a:lnSpc>
              <a:buFont typeface="Arial"/>
              <a:buChar char="•"/>
            </a:pPr>
            <a:r>
              <a:rPr lang="en-US" sz="3700" b="1">
                <a:solidFill>
                  <a:srgbClr val="333C4A"/>
                </a:solidFill>
                <a:latin typeface="Libre Baskerville Bold"/>
                <a:ea typeface="Libre Baskerville Bold"/>
                <a:cs typeface="Libre Baskerville Bold"/>
                <a:sym typeface="Libre Baskerville Bold"/>
              </a:rPr>
              <a:t>The 5-point Likert Scale will be computed using the formula.</a:t>
            </a:r>
          </a:p>
        </p:txBody>
      </p:sp>
      <p:sp>
        <p:nvSpPr>
          <p:cNvPr id="7" name="TextBox 7"/>
          <p:cNvSpPr txBox="1"/>
          <p:nvPr/>
        </p:nvSpPr>
        <p:spPr>
          <a:xfrm>
            <a:off x="2973687" y="580592"/>
            <a:ext cx="13567929" cy="2299323"/>
          </a:xfrm>
          <a:prstGeom prst="rect">
            <a:avLst/>
          </a:prstGeom>
        </p:spPr>
        <p:txBody>
          <a:bodyPr lIns="0" tIns="0" rIns="0" bIns="0" rtlCol="0" anchor="t">
            <a:spAutoFit/>
          </a:bodyPr>
          <a:lstStyle/>
          <a:p>
            <a:pPr algn="ctr">
              <a:lnSpc>
                <a:spcPts val="9240"/>
              </a:lnSpc>
            </a:pPr>
            <a:r>
              <a:rPr lang="en-US" sz="6600" b="1">
                <a:solidFill>
                  <a:srgbClr val="333C4A"/>
                </a:solidFill>
                <a:latin typeface="DM Sans Bold"/>
                <a:ea typeface="DM Sans Bold"/>
                <a:cs typeface="DM Sans Bold"/>
                <a:sym typeface="DM Sans Bold"/>
              </a:rPr>
              <a:t>Statistical Tools and Treatment of Data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3723558" y="1269094"/>
            <a:ext cx="10035488" cy="1301305"/>
          </a:xfrm>
          <a:custGeom>
            <a:avLst/>
            <a:gdLst/>
            <a:ahLst/>
            <a:cxnLst/>
            <a:rect l="l" t="t" r="r" b="b"/>
            <a:pathLst>
              <a:path w="10035488" h="1301305">
                <a:moveTo>
                  <a:pt x="0" y="0"/>
                </a:moveTo>
                <a:lnTo>
                  <a:pt x="10035488" y="0"/>
                </a:lnTo>
                <a:lnTo>
                  <a:pt x="10035488" y="1301305"/>
                </a:lnTo>
                <a:lnTo>
                  <a:pt x="0" y="1301305"/>
                </a:lnTo>
                <a:lnTo>
                  <a:pt x="0" y="0"/>
                </a:lnTo>
                <a:close/>
              </a:path>
            </a:pathLst>
          </a:custGeom>
          <a:blipFill>
            <a:blip r:embed="rId6"/>
            <a:stretch>
              <a:fillRect/>
            </a:stretch>
          </a:blipFill>
        </p:spPr>
      </p:sp>
      <p:sp>
        <p:nvSpPr>
          <p:cNvPr id="7" name="Freeform 7"/>
          <p:cNvSpPr/>
          <p:nvPr/>
        </p:nvSpPr>
        <p:spPr>
          <a:xfrm>
            <a:off x="6118484" y="2991537"/>
            <a:ext cx="6605199" cy="6645597"/>
          </a:xfrm>
          <a:custGeom>
            <a:avLst/>
            <a:gdLst/>
            <a:ahLst/>
            <a:cxnLst/>
            <a:rect l="l" t="t" r="r" b="b"/>
            <a:pathLst>
              <a:path w="6605199" h="6645597">
                <a:moveTo>
                  <a:pt x="0" y="0"/>
                </a:moveTo>
                <a:lnTo>
                  <a:pt x="6605198" y="0"/>
                </a:lnTo>
                <a:lnTo>
                  <a:pt x="6605198" y="6645598"/>
                </a:lnTo>
                <a:lnTo>
                  <a:pt x="0" y="6645598"/>
                </a:lnTo>
                <a:lnTo>
                  <a:pt x="0" y="0"/>
                </a:lnTo>
                <a:close/>
              </a:path>
            </a:pathLst>
          </a:custGeom>
          <a:blipFill>
            <a:blip r:embed="rId7"/>
            <a:stretch>
              <a:fillRect/>
            </a:stretch>
          </a:blipFill>
        </p:spPr>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2147949" y="1835912"/>
            <a:ext cx="13992101" cy="6615177"/>
          </a:xfrm>
          <a:custGeom>
            <a:avLst/>
            <a:gdLst/>
            <a:ahLst/>
            <a:cxnLst/>
            <a:rect l="l" t="t" r="r" b="b"/>
            <a:pathLst>
              <a:path w="13992101" h="6615177">
                <a:moveTo>
                  <a:pt x="0" y="0"/>
                </a:moveTo>
                <a:lnTo>
                  <a:pt x="13992102" y="0"/>
                </a:lnTo>
                <a:lnTo>
                  <a:pt x="13992102" y="6615176"/>
                </a:lnTo>
                <a:lnTo>
                  <a:pt x="0" y="6615176"/>
                </a:lnTo>
                <a:lnTo>
                  <a:pt x="0" y="0"/>
                </a:lnTo>
                <a:close/>
              </a:path>
            </a:pathLst>
          </a:custGeom>
          <a:blipFill>
            <a:blip r:embed="rId6"/>
            <a:stretch>
              <a:fillRect/>
            </a:stretch>
          </a:blipFill>
        </p:spPr>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232860" y="3192644"/>
            <a:ext cx="16536154" cy="5430872"/>
          </a:xfrm>
          <a:custGeom>
            <a:avLst/>
            <a:gdLst/>
            <a:ahLst/>
            <a:cxnLst/>
            <a:rect l="l" t="t" r="r" b="b"/>
            <a:pathLst>
              <a:path w="16536154" h="5430872">
                <a:moveTo>
                  <a:pt x="0" y="0"/>
                </a:moveTo>
                <a:lnTo>
                  <a:pt x="16536154" y="0"/>
                </a:lnTo>
                <a:lnTo>
                  <a:pt x="16536154" y="5430872"/>
                </a:lnTo>
                <a:lnTo>
                  <a:pt x="0" y="5430872"/>
                </a:lnTo>
                <a:lnTo>
                  <a:pt x="0" y="0"/>
                </a:lnTo>
                <a:close/>
              </a:path>
            </a:pathLst>
          </a:custGeom>
          <a:blipFill>
            <a:blip r:embed="rId6"/>
            <a:stretch>
              <a:fillRect/>
            </a:stretch>
          </a:blipFill>
        </p:spPr>
      </p:sp>
      <p:sp>
        <p:nvSpPr>
          <p:cNvPr id="7" name="TextBox 7"/>
          <p:cNvSpPr txBox="1"/>
          <p:nvPr/>
        </p:nvSpPr>
        <p:spPr>
          <a:xfrm>
            <a:off x="3115482" y="609167"/>
            <a:ext cx="12770910" cy="1668767"/>
          </a:xfrm>
          <a:prstGeom prst="rect">
            <a:avLst/>
          </a:prstGeom>
        </p:spPr>
        <p:txBody>
          <a:bodyPr lIns="0" tIns="0" rIns="0" bIns="0" rtlCol="0" anchor="t">
            <a:spAutoFit/>
          </a:bodyPr>
          <a:lstStyle/>
          <a:p>
            <a:pPr algn="l">
              <a:lnSpc>
                <a:spcPts val="6720"/>
              </a:lnSpc>
              <a:spcBef>
                <a:spcPct val="0"/>
              </a:spcBef>
            </a:pPr>
            <a:r>
              <a:rPr lang="en-US" sz="4800" b="1">
                <a:solidFill>
                  <a:srgbClr val="000000"/>
                </a:solidFill>
                <a:latin typeface="DM Sans Bold"/>
                <a:ea typeface="DM Sans Bold"/>
                <a:cs typeface="DM Sans Bold"/>
                <a:sym typeface="DM Sans Bold"/>
              </a:rPr>
              <a:t>Table 6. Rating Scale used in Evaluating the Functionality of the System.</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215890" y="3213047"/>
            <a:ext cx="16043410" cy="4974353"/>
          </a:xfrm>
          <a:custGeom>
            <a:avLst/>
            <a:gdLst/>
            <a:ahLst/>
            <a:cxnLst/>
            <a:rect l="l" t="t" r="r" b="b"/>
            <a:pathLst>
              <a:path w="16043410" h="4974353">
                <a:moveTo>
                  <a:pt x="0" y="0"/>
                </a:moveTo>
                <a:lnTo>
                  <a:pt x="16043410" y="0"/>
                </a:lnTo>
                <a:lnTo>
                  <a:pt x="16043410" y="4974353"/>
                </a:lnTo>
                <a:lnTo>
                  <a:pt x="0" y="4974353"/>
                </a:lnTo>
                <a:lnTo>
                  <a:pt x="0" y="0"/>
                </a:lnTo>
                <a:close/>
              </a:path>
            </a:pathLst>
          </a:custGeom>
          <a:blipFill>
            <a:blip r:embed="rId6"/>
            <a:stretch>
              <a:fillRect/>
            </a:stretch>
          </a:blipFill>
        </p:spPr>
      </p:sp>
      <p:sp>
        <p:nvSpPr>
          <p:cNvPr id="7" name="TextBox 7"/>
          <p:cNvSpPr txBox="1"/>
          <p:nvPr/>
        </p:nvSpPr>
        <p:spPr>
          <a:xfrm>
            <a:off x="3115482" y="609167"/>
            <a:ext cx="12770910" cy="1668767"/>
          </a:xfrm>
          <a:prstGeom prst="rect">
            <a:avLst/>
          </a:prstGeom>
        </p:spPr>
        <p:txBody>
          <a:bodyPr lIns="0" tIns="0" rIns="0" bIns="0" rtlCol="0" anchor="t">
            <a:spAutoFit/>
          </a:bodyPr>
          <a:lstStyle/>
          <a:p>
            <a:pPr algn="l">
              <a:lnSpc>
                <a:spcPts val="6720"/>
              </a:lnSpc>
              <a:spcBef>
                <a:spcPct val="0"/>
              </a:spcBef>
            </a:pPr>
            <a:r>
              <a:rPr lang="en-US" sz="4800" b="1">
                <a:solidFill>
                  <a:srgbClr val="000000"/>
                </a:solidFill>
                <a:latin typeface="DM Sans Bold"/>
                <a:ea typeface="DM Sans Bold"/>
                <a:cs typeface="DM Sans Bold"/>
                <a:sym typeface="DM Sans Bold"/>
              </a:rPr>
              <a:t>Table 7. Rating Scale used in Evaluating the Reliable of the System.</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Freeform 2"/>
          <p:cNvSpPr/>
          <p:nvPr/>
        </p:nvSpPr>
        <p:spPr>
          <a:xfrm flipV="1">
            <a:off x="-1990067" y="9637135"/>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297933" y="-3410383"/>
            <a:ext cx="3980134" cy="4114800"/>
          </a:xfrm>
          <a:custGeom>
            <a:avLst/>
            <a:gdLst/>
            <a:ahLst/>
            <a:cxnLst/>
            <a:rect l="l" t="t" r="r" b="b"/>
            <a:pathLst>
              <a:path w="3980134" h="4114800">
                <a:moveTo>
                  <a:pt x="0" y="4114800"/>
                </a:moveTo>
                <a:lnTo>
                  <a:pt x="3980134" y="4114800"/>
                </a:lnTo>
                <a:lnTo>
                  <a:pt x="398013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0" y="0"/>
            <a:ext cx="2973687" cy="3839493"/>
          </a:xfrm>
          <a:custGeom>
            <a:avLst/>
            <a:gdLst/>
            <a:ahLst/>
            <a:cxnLst/>
            <a:rect l="l" t="t" r="r" b="b"/>
            <a:pathLst>
              <a:path w="2973687" h="3839493">
                <a:moveTo>
                  <a:pt x="2973687" y="3839493"/>
                </a:moveTo>
                <a:lnTo>
                  <a:pt x="0" y="3839493"/>
                </a:lnTo>
                <a:lnTo>
                  <a:pt x="0" y="0"/>
                </a:lnTo>
                <a:lnTo>
                  <a:pt x="2973687" y="0"/>
                </a:lnTo>
                <a:lnTo>
                  <a:pt x="2973687" y="383949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14313" y="6447507"/>
            <a:ext cx="2973687" cy="3839493"/>
          </a:xfrm>
          <a:custGeom>
            <a:avLst/>
            <a:gdLst/>
            <a:ahLst/>
            <a:cxnLst/>
            <a:rect l="l" t="t" r="r" b="b"/>
            <a:pathLst>
              <a:path w="2973687" h="3839493">
                <a:moveTo>
                  <a:pt x="0" y="0"/>
                </a:moveTo>
                <a:lnTo>
                  <a:pt x="2973687" y="0"/>
                </a:lnTo>
                <a:lnTo>
                  <a:pt x="2973687" y="3839493"/>
                </a:lnTo>
                <a:lnTo>
                  <a:pt x="0" y="38394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147802" y="3119492"/>
            <a:ext cx="14738590" cy="4840827"/>
          </a:xfrm>
          <a:custGeom>
            <a:avLst/>
            <a:gdLst/>
            <a:ahLst/>
            <a:cxnLst/>
            <a:rect l="l" t="t" r="r" b="b"/>
            <a:pathLst>
              <a:path w="14738590" h="4840827">
                <a:moveTo>
                  <a:pt x="0" y="0"/>
                </a:moveTo>
                <a:lnTo>
                  <a:pt x="14738590" y="0"/>
                </a:lnTo>
                <a:lnTo>
                  <a:pt x="14738590" y="4840827"/>
                </a:lnTo>
                <a:lnTo>
                  <a:pt x="0" y="4840827"/>
                </a:lnTo>
                <a:lnTo>
                  <a:pt x="0" y="0"/>
                </a:lnTo>
                <a:close/>
              </a:path>
            </a:pathLst>
          </a:custGeom>
          <a:blipFill>
            <a:blip r:embed="rId6"/>
            <a:stretch>
              <a:fillRect/>
            </a:stretch>
          </a:blipFill>
        </p:spPr>
      </p:sp>
      <p:sp>
        <p:nvSpPr>
          <p:cNvPr id="7" name="TextBox 7"/>
          <p:cNvSpPr txBox="1"/>
          <p:nvPr/>
        </p:nvSpPr>
        <p:spPr>
          <a:xfrm>
            <a:off x="3115482" y="609167"/>
            <a:ext cx="12770910" cy="1668767"/>
          </a:xfrm>
          <a:prstGeom prst="rect">
            <a:avLst/>
          </a:prstGeom>
        </p:spPr>
        <p:txBody>
          <a:bodyPr lIns="0" tIns="0" rIns="0" bIns="0" rtlCol="0" anchor="t">
            <a:spAutoFit/>
          </a:bodyPr>
          <a:lstStyle/>
          <a:p>
            <a:pPr algn="l">
              <a:lnSpc>
                <a:spcPts val="6720"/>
              </a:lnSpc>
              <a:spcBef>
                <a:spcPct val="0"/>
              </a:spcBef>
            </a:pPr>
            <a:r>
              <a:rPr lang="en-US" sz="4800" b="1">
                <a:solidFill>
                  <a:srgbClr val="000000"/>
                </a:solidFill>
                <a:latin typeface="DM Sans Bold"/>
                <a:ea typeface="DM Sans Bold"/>
                <a:cs typeface="DM Sans Bold"/>
                <a:sym typeface="DM Sans Bold"/>
              </a:rPr>
              <a:t>Table 8. Rating Scale used in Evaluating the User Convenience of the System.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a:extLst>
            <a:ext uri="{FF2B5EF4-FFF2-40B4-BE49-F238E27FC236}">
              <a16:creationId xmlns:a16="http://schemas.microsoft.com/office/drawing/2014/main" id="{5F90891C-5872-C855-4A7C-F8DC2D9A6FD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4508B11-3F7D-D810-1953-A40A2A040436}"/>
              </a:ext>
            </a:extLst>
          </p:cNvPr>
          <p:cNvSpPr txBox="1"/>
          <p:nvPr/>
        </p:nvSpPr>
        <p:spPr>
          <a:xfrm>
            <a:off x="1028700" y="4137016"/>
            <a:ext cx="16112081" cy="1812942"/>
          </a:xfrm>
          <a:prstGeom prst="rect">
            <a:avLst/>
          </a:prstGeom>
        </p:spPr>
        <p:txBody>
          <a:bodyPr lIns="0" tIns="0" rIns="0" bIns="0" rtlCol="0" anchor="t">
            <a:spAutoFit/>
          </a:bodyPr>
          <a:lstStyle/>
          <a:p>
            <a:pPr algn="ctr">
              <a:lnSpc>
                <a:spcPts val="14891"/>
              </a:lnSpc>
            </a:pPr>
            <a:r>
              <a:rPr lang="en-US" sz="10636" b="1">
                <a:solidFill>
                  <a:srgbClr val="333C4A"/>
                </a:solidFill>
                <a:latin typeface="DM Sans Bold"/>
                <a:ea typeface="DM Sans Bold"/>
                <a:cs typeface="DM Sans Bold"/>
                <a:sym typeface="DM Sans Bold"/>
              </a:rPr>
              <a:t>THANK YOU</a:t>
            </a:r>
          </a:p>
        </p:txBody>
      </p:sp>
      <p:sp>
        <p:nvSpPr>
          <p:cNvPr id="3" name="Freeform 3">
            <a:extLst>
              <a:ext uri="{FF2B5EF4-FFF2-40B4-BE49-F238E27FC236}">
                <a16:creationId xmlns:a16="http://schemas.microsoft.com/office/drawing/2014/main" id="{93276147-DEF1-07A0-93C6-64A984861821}"/>
              </a:ext>
            </a:extLst>
          </p:cNvPr>
          <p:cNvSpPr/>
          <p:nvPr/>
        </p:nvSpPr>
        <p:spPr>
          <a:xfrm flipV="1">
            <a:off x="9990699" y="2057400"/>
            <a:ext cx="8345930" cy="8285233"/>
          </a:xfrm>
          <a:custGeom>
            <a:avLst/>
            <a:gdLst/>
            <a:ahLst/>
            <a:cxnLst/>
            <a:rect l="l" t="t" r="r" b="b"/>
            <a:pathLst>
              <a:path w="8345930" h="8285233">
                <a:moveTo>
                  <a:pt x="0" y="8285233"/>
                </a:moveTo>
                <a:lnTo>
                  <a:pt x="8345930" y="8285233"/>
                </a:lnTo>
                <a:lnTo>
                  <a:pt x="8345930" y="0"/>
                </a:lnTo>
                <a:lnTo>
                  <a:pt x="0" y="0"/>
                </a:lnTo>
                <a:lnTo>
                  <a:pt x="0" y="82852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E6E7BB67-898A-EF21-6526-7E5CCCEFC4F9}"/>
              </a:ext>
            </a:extLst>
          </p:cNvPr>
          <p:cNvSpPr/>
          <p:nvPr/>
        </p:nvSpPr>
        <p:spPr>
          <a:xfrm flipH="1">
            <a:off x="-76200" y="0"/>
            <a:ext cx="8345930" cy="8285233"/>
          </a:xfrm>
          <a:custGeom>
            <a:avLst/>
            <a:gdLst/>
            <a:ahLst/>
            <a:cxnLst/>
            <a:rect l="l" t="t" r="r" b="b"/>
            <a:pathLst>
              <a:path w="8345930" h="8285233">
                <a:moveTo>
                  <a:pt x="8345930" y="0"/>
                </a:moveTo>
                <a:lnTo>
                  <a:pt x="0" y="0"/>
                </a:lnTo>
                <a:lnTo>
                  <a:pt x="0" y="8285233"/>
                </a:lnTo>
                <a:lnTo>
                  <a:pt x="8345930" y="8285233"/>
                </a:lnTo>
                <a:lnTo>
                  <a:pt x="834593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65F6D115-3CFA-2462-F20F-0366DFA23343}"/>
              </a:ext>
            </a:extLst>
          </p:cNvPr>
          <p:cNvSpPr/>
          <p:nvPr/>
        </p:nvSpPr>
        <p:spPr>
          <a:xfrm>
            <a:off x="-902108" y="7200900"/>
            <a:ext cx="3980134" cy="4114800"/>
          </a:xfrm>
          <a:custGeom>
            <a:avLst/>
            <a:gdLst/>
            <a:ahLst/>
            <a:cxnLst/>
            <a:rect l="l" t="t" r="r" b="b"/>
            <a:pathLst>
              <a:path w="3980134" h="4114800">
                <a:moveTo>
                  <a:pt x="0" y="0"/>
                </a:moveTo>
                <a:lnTo>
                  <a:pt x="3980134" y="0"/>
                </a:lnTo>
                <a:lnTo>
                  <a:pt x="398013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a:extLst>
              <a:ext uri="{FF2B5EF4-FFF2-40B4-BE49-F238E27FC236}">
                <a16:creationId xmlns:a16="http://schemas.microsoft.com/office/drawing/2014/main" id="{17D4230D-DBA6-E66B-0CA4-74789B665F5D}"/>
              </a:ext>
            </a:extLst>
          </p:cNvPr>
          <p:cNvSpPr/>
          <p:nvPr/>
        </p:nvSpPr>
        <p:spPr>
          <a:xfrm flipH="1" flipV="1">
            <a:off x="14375546" y="-1754332"/>
            <a:ext cx="3980134" cy="4114800"/>
          </a:xfrm>
          <a:custGeom>
            <a:avLst/>
            <a:gdLst/>
            <a:ahLst/>
            <a:cxnLst/>
            <a:rect l="l" t="t" r="r" b="b"/>
            <a:pathLst>
              <a:path w="3980134" h="4114800">
                <a:moveTo>
                  <a:pt x="3980133" y="4114800"/>
                </a:moveTo>
                <a:lnTo>
                  <a:pt x="0" y="4114800"/>
                </a:lnTo>
                <a:lnTo>
                  <a:pt x="0" y="0"/>
                </a:lnTo>
                <a:lnTo>
                  <a:pt x="3980133" y="0"/>
                </a:lnTo>
                <a:lnTo>
                  <a:pt x="3980133" y="411480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6226170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p:cNvGrpSpPr/>
        <p:nvPr/>
      </p:nvGrpSpPr>
      <p:grpSpPr>
        <a:xfrm>
          <a:off x="0" y="0"/>
          <a:ext cx="0" cy="0"/>
          <a:chOff x="0" y="0"/>
          <a:chExt cx="0" cy="0"/>
        </a:xfrm>
      </p:grpSpPr>
      <p:sp>
        <p:nvSpPr>
          <p:cNvPr id="2" name="TextBox 2"/>
          <p:cNvSpPr txBox="1"/>
          <p:nvPr/>
        </p:nvSpPr>
        <p:spPr>
          <a:xfrm>
            <a:off x="1028700" y="4137016"/>
            <a:ext cx="16112081" cy="3733523"/>
          </a:xfrm>
          <a:prstGeom prst="rect">
            <a:avLst/>
          </a:prstGeom>
        </p:spPr>
        <p:txBody>
          <a:bodyPr lIns="0" tIns="0" rIns="0" bIns="0" rtlCol="0" anchor="t">
            <a:spAutoFit/>
          </a:bodyPr>
          <a:lstStyle/>
          <a:p>
            <a:pPr algn="ctr">
              <a:lnSpc>
                <a:spcPts val="14891"/>
              </a:lnSpc>
            </a:pPr>
            <a:r>
              <a:rPr lang="en-US" sz="10636" b="1" dirty="0">
                <a:solidFill>
                  <a:srgbClr val="333C4A"/>
                </a:solidFill>
                <a:latin typeface="DM Sans Bold"/>
                <a:ea typeface="DM Sans Bold"/>
                <a:cs typeface="DM Sans Bold"/>
                <a:sym typeface="DM Sans Bold"/>
              </a:rPr>
              <a:t>Questions or </a:t>
            </a:r>
            <a:r>
              <a:rPr lang="en-US" sz="10636" b="1" dirty="0" err="1">
                <a:solidFill>
                  <a:srgbClr val="333C4A"/>
                </a:solidFill>
                <a:latin typeface="DM Sans Bold"/>
                <a:ea typeface="DM Sans Bold"/>
                <a:cs typeface="DM Sans Bold"/>
                <a:sym typeface="DM Sans Bold"/>
              </a:rPr>
              <a:t>Reccomendation</a:t>
            </a:r>
            <a:endParaRPr lang="en-US" sz="10636" b="1" dirty="0">
              <a:solidFill>
                <a:srgbClr val="333C4A"/>
              </a:solidFill>
              <a:latin typeface="DM Sans Bold"/>
              <a:ea typeface="DM Sans Bold"/>
              <a:cs typeface="DM Sans Bold"/>
              <a:sym typeface="DM Sans Bold"/>
            </a:endParaRPr>
          </a:p>
        </p:txBody>
      </p:sp>
      <p:sp>
        <p:nvSpPr>
          <p:cNvPr id="3" name="Freeform 3"/>
          <p:cNvSpPr/>
          <p:nvPr/>
        </p:nvSpPr>
        <p:spPr>
          <a:xfrm flipV="1">
            <a:off x="9990699" y="2057400"/>
            <a:ext cx="8345930" cy="8285233"/>
          </a:xfrm>
          <a:custGeom>
            <a:avLst/>
            <a:gdLst/>
            <a:ahLst/>
            <a:cxnLst/>
            <a:rect l="l" t="t" r="r" b="b"/>
            <a:pathLst>
              <a:path w="8345930" h="8285233">
                <a:moveTo>
                  <a:pt x="0" y="8285233"/>
                </a:moveTo>
                <a:lnTo>
                  <a:pt x="8345930" y="8285233"/>
                </a:lnTo>
                <a:lnTo>
                  <a:pt x="8345930" y="0"/>
                </a:lnTo>
                <a:lnTo>
                  <a:pt x="0" y="0"/>
                </a:lnTo>
                <a:lnTo>
                  <a:pt x="0" y="82852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76200" y="0"/>
            <a:ext cx="8345930" cy="8285233"/>
          </a:xfrm>
          <a:custGeom>
            <a:avLst/>
            <a:gdLst/>
            <a:ahLst/>
            <a:cxnLst/>
            <a:rect l="l" t="t" r="r" b="b"/>
            <a:pathLst>
              <a:path w="8345930" h="8285233">
                <a:moveTo>
                  <a:pt x="8345930" y="0"/>
                </a:moveTo>
                <a:lnTo>
                  <a:pt x="0" y="0"/>
                </a:lnTo>
                <a:lnTo>
                  <a:pt x="0" y="8285233"/>
                </a:lnTo>
                <a:lnTo>
                  <a:pt x="8345930" y="8285233"/>
                </a:lnTo>
                <a:lnTo>
                  <a:pt x="834593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902108" y="7200900"/>
            <a:ext cx="3980134" cy="4114800"/>
          </a:xfrm>
          <a:custGeom>
            <a:avLst/>
            <a:gdLst/>
            <a:ahLst/>
            <a:cxnLst/>
            <a:rect l="l" t="t" r="r" b="b"/>
            <a:pathLst>
              <a:path w="3980134" h="4114800">
                <a:moveTo>
                  <a:pt x="0" y="0"/>
                </a:moveTo>
                <a:lnTo>
                  <a:pt x="3980134" y="0"/>
                </a:lnTo>
                <a:lnTo>
                  <a:pt x="398013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H="1" flipV="1">
            <a:off x="14375546" y="-1754332"/>
            <a:ext cx="3980134" cy="4114800"/>
          </a:xfrm>
          <a:custGeom>
            <a:avLst/>
            <a:gdLst/>
            <a:ahLst/>
            <a:cxnLst/>
            <a:rect l="l" t="t" r="r" b="b"/>
            <a:pathLst>
              <a:path w="3980134" h="4114800">
                <a:moveTo>
                  <a:pt x="3980133" y="4114800"/>
                </a:moveTo>
                <a:lnTo>
                  <a:pt x="0" y="4114800"/>
                </a:lnTo>
                <a:lnTo>
                  <a:pt x="0" y="0"/>
                </a:lnTo>
                <a:lnTo>
                  <a:pt x="3980133" y="0"/>
                </a:lnTo>
                <a:lnTo>
                  <a:pt x="3980133" y="411480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8FCEB"/>
        </a:solidFill>
        <a:effectLst/>
      </p:bgPr>
    </p:bg>
    <p:spTree>
      <p:nvGrpSpPr>
        <p:cNvPr id="1" name="">
          <a:extLst>
            <a:ext uri="{FF2B5EF4-FFF2-40B4-BE49-F238E27FC236}">
              <a16:creationId xmlns:a16="http://schemas.microsoft.com/office/drawing/2014/main" id="{B6001A87-14CA-DFD0-3396-444E3DF123B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99ACD9C-3AFB-3CBA-D1ED-BEECF430DC7C}"/>
              </a:ext>
            </a:extLst>
          </p:cNvPr>
          <p:cNvSpPr txBox="1"/>
          <p:nvPr/>
        </p:nvSpPr>
        <p:spPr>
          <a:xfrm>
            <a:off x="1028700" y="4137016"/>
            <a:ext cx="16112081" cy="1812942"/>
          </a:xfrm>
          <a:prstGeom prst="rect">
            <a:avLst/>
          </a:prstGeom>
        </p:spPr>
        <p:txBody>
          <a:bodyPr lIns="0" tIns="0" rIns="0" bIns="0" rtlCol="0" anchor="t">
            <a:spAutoFit/>
          </a:bodyPr>
          <a:lstStyle/>
          <a:p>
            <a:pPr algn="ctr">
              <a:lnSpc>
                <a:spcPts val="14891"/>
              </a:lnSpc>
            </a:pPr>
            <a:r>
              <a:rPr lang="en-US" sz="10636" b="1" dirty="0">
                <a:solidFill>
                  <a:srgbClr val="333C4A"/>
                </a:solidFill>
                <a:latin typeface="DM Sans Bold"/>
                <a:ea typeface="DM Sans Bold"/>
                <a:cs typeface="DM Sans Bold"/>
                <a:sym typeface="DM Sans Bold"/>
              </a:rPr>
              <a:t>OUTLINE DEFENDED!</a:t>
            </a:r>
          </a:p>
        </p:txBody>
      </p:sp>
      <p:sp>
        <p:nvSpPr>
          <p:cNvPr id="3" name="Freeform 3">
            <a:extLst>
              <a:ext uri="{FF2B5EF4-FFF2-40B4-BE49-F238E27FC236}">
                <a16:creationId xmlns:a16="http://schemas.microsoft.com/office/drawing/2014/main" id="{69F54CAE-CCC4-DBEB-0FEF-22E2E063B5F8}"/>
              </a:ext>
            </a:extLst>
          </p:cNvPr>
          <p:cNvSpPr/>
          <p:nvPr/>
        </p:nvSpPr>
        <p:spPr>
          <a:xfrm flipV="1">
            <a:off x="9990699" y="2057400"/>
            <a:ext cx="8345930" cy="8285233"/>
          </a:xfrm>
          <a:custGeom>
            <a:avLst/>
            <a:gdLst/>
            <a:ahLst/>
            <a:cxnLst/>
            <a:rect l="l" t="t" r="r" b="b"/>
            <a:pathLst>
              <a:path w="8345930" h="8285233">
                <a:moveTo>
                  <a:pt x="0" y="8285233"/>
                </a:moveTo>
                <a:lnTo>
                  <a:pt x="8345930" y="8285233"/>
                </a:lnTo>
                <a:lnTo>
                  <a:pt x="8345930" y="0"/>
                </a:lnTo>
                <a:lnTo>
                  <a:pt x="0" y="0"/>
                </a:lnTo>
                <a:lnTo>
                  <a:pt x="0" y="82852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FBECFAAC-2145-B4F1-3F0D-708E583D3AE8}"/>
              </a:ext>
            </a:extLst>
          </p:cNvPr>
          <p:cNvSpPr/>
          <p:nvPr/>
        </p:nvSpPr>
        <p:spPr>
          <a:xfrm flipH="1">
            <a:off x="-76200" y="0"/>
            <a:ext cx="8345930" cy="8285233"/>
          </a:xfrm>
          <a:custGeom>
            <a:avLst/>
            <a:gdLst/>
            <a:ahLst/>
            <a:cxnLst/>
            <a:rect l="l" t="t" r="r" b="b"/>
            <a:pathLst>
              <a:path w="8345930" h="8285233">
                <a:moveTo>
                  <a:pt x="8345930" y="0"/>
                </a:moveTo>
                <a:lnTo>
                  <a:pt x="0" y="0"/>
                </a:lnTo>
                <a:lnTo>
                  <a:pt x="0" y="8285233"/>
                </a:lnTo>
                <a:lnTo>
                  <a:pt x="8345930" y="8285233"/>
                </a:lnTo>
                <a:lnTo>
                  <a:pt x="834593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CE60A1CF-0778-A29E-58FE-21D0A642A047}"/>
              </a:ext>
            </a:extLst>
          </p:cNvPr>
          <p:cNvSpPr/>
          <p:nvPr/>
        </p:nvSpPr>
        <p:spPr>
          <a:xfrm>
            <a:off x="-902108" y="7200900"/>
            <a:ext cx="3980134" cy="4114800"/>
          </a:xfrm>
          <a:custGeom>
            <a:avLst/>
            <a:gdLst/>
            <a:ahLst/>
            <a:cxnLst/>
            <a:rect l="l" t="t" r="r" b="b"/>
            <a:pathLst>
              <a:path w="3980134" h="4114800">
                <a:moveTo>
                  <a:pt x="0" y="0"/>
                </a:moveTo>
                <a:lnTo>
                  <a:pt x="3980134" y="0"/>
                </a:lnTo>
                <a:lnTo>
                  <a:pt x="398013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a:extLst>
              <a:ext uri="{FF2B5EF4-FFF2-40B4-BE49-F238E27FC236}">
                <a16:creationId xmlns:a16="http://schemas.microsoft.com/office/drawing/2014/main" id="{09B54189-4A99-626C-258A-51CED09FD4B0}"/>
              </a:ext>
            </a:extLst>
          </p:cNvPr>
          <p:cNvSpPr/>
          <p:nvPr/>
        </p:nvSpPr>
        <p:spPr>
          <a:xfrm flipH="1" flipV="1">
            <a:off x="14375546" y="-1754332"/>
            <a:ext cx="3980134" cy="4114800"/>
          </a:xfrm>
          <a:custGeom>
            <a:avLst/>
            <a:gdLst/>
            <a:ahLst/>
            <a:cxnLst/>
            <a:rect l="l" t="t" r="r" b="b"/>
            <a:pathLst>
              <a:path w="3980134" h="4114800">
                <a:moveTo>
                  <a:pt x="3980133" y="4114800"/>
                </a:moveTo>
                <a:lnTo>
                  <a:pt x="0" y="4114800"/>
                </a:lnTo>
                <a:lnTo>
                  <a:pt x="0" y="0"/>
                </a:lnTo>
                <a:lnTo>
                  <a:pt x="3980133" y="0"/>
                </a:lnTo>
                <a:lnTo>
                  <a:pt x="3980133" y="411480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13605891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649</TotalTime>
  <Words>1302</Words>
  <Application>Microsoft Office PowerPoint</Application>
  <PresentationFormat>Custom</PresentationFormat>
  <Paragraphs>182</Paragraphs>
  <Slides>57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DM Sans Bold</vt:lpstr>
      <vt:lpstr>Libre Baskerville Bold</vt:lpstr>
      <vt:lpstr>Libre Baskerville</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OD-nath&amp;george</dc:title>
  <dc:creator>Admin</dc:creator>
  <cp:lastModifiedBy>Nathaniel Lagnaoda</cp:lastModifiedBy>
  <cp:revision>3</cp:revision>
  <dcterms:created xsi:type="dcterms:W3CDTF">2006-08-16T00:00:00Z</dcterms:created>
  <dcterms:modified xsi:type="dcterms:W3CDTF">2026-01-17T15:34:42Z</dcterms:modified>
  <dc:identifier>DAG5zAPExtk</dc:identifier>
</cp:coreProperties>
</file>